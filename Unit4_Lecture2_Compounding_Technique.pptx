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0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>
              <a:defRPr sz="240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9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1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5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7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6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3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0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73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5280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82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95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89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0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97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Unit IV – </a:t>
            </a:r>
            <a:r>
              <a:rPr lang="en-IN" dirty="0"/>
              <a:t>Lecture </a:t>
            </a:r>
            <a:r>
              <a:rPr lang="en-IN" dirty="0" smtClean="0"/>
              <a:t>2</a:t>
            </a:r>
            <a:br>
              <a:rPr lang="en-IN" dirty="0" smtClean="0"/>
            </a:br>
            <a:r>
              <a:rPr lang="en-IN" dirty="0"/>
              <a:t>Compounding Technique – Future </a:t>
            </a:r>
            <a:r>
              <a:rPr lang="en-IN" dirty="0" smtClean="0"/>
              <a:t>Value</a:t>
            </a:r>
            <a:endParaRPr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57251" y="2249487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Course: Financial Management (24CSB221T</a:t>
            </a:r>
            <a:r>
              <a:rPr dirty="0" smtClean="0">
                <a:solidFill>
                  <a:schemeClr val="bg1"/>
                </a:solidFill>
              </a:rPr>
              <a:t>)</a:t>
            </a:r>
            <a:endParaRPr lang="en-IN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bg1"/>
                </a:solidFill>
              </a:rPr>
              <a:t>Unit IV: Time Value of Money</a:t>
            </a:r>
            <a:endParaRPr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dirty="0" smtClean="0">
                <a:solidFill>
                  <a:schemeClr val="bg1"/>
                </a:solidFill>
              </a:rPr>
              <a:t>B.Tech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CSBS – Semester </a:t>
            </a:r>
            <a:r>
              <a:rPr dirty="0" smtClean="0">
                <a:solidFill>
                  <a:schemeClr val="bg1"/>
                </a:solidFill>
              </a:rPr>
              <a:t>IV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591150" y="4135557"/>
            <a:ext cx="3961701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Dr</a:t>
            </a:r>
            <a:r>
              <a:rPr lang="en-US" dirty="0">
                <a:solidFill>
                  <a:schemeClr val="bg1"/>
                </a:solidFill>
              </a:rPr>
              <a:t>. Darshit SHAH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CSE, </a:t>
            </a:r>
            <a:r>
              <a:rPr lang="en-US" dirty="0" err="1">
                <a:solidFill>
                  <a:schemeClr val="bg1"/>
                </a:solidFill>
              </a:rPr>
              <a:t>SoT</a:t>
            </a:r>
            <a:r>
              <a:rPr lang="en-US" dirty="0">
                <a:solidFill>
                  <a:schemeClr val="bg1"/>
                </a:solidFill>
              </a:rPr>
              <a:t>, PDEU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the compounding process</a:t>
            </a:r>
          </a:p>
          <a:p>
            <a:r>
              <a:t>Compute Future Value (FV) of a lump sum</a:t>
            </a:r>
          </a:p>
          <a:p>
            <a:r>
              <a:t>Understand FV of multiple cash flows</a:t>
            </a:r>
          </a:p>
          <a:p>
            <a:r>
              <a:t>Apply Excel functions to calculate FV</a:t>
            </a:r>
          </a:p>
          <a:p>
            <a:r>
              <a:t>Develop computational thinking for finance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Compounding?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Compounding means earning interest on both principal and accumulated interest.</a:t>
            </a:r>
          </a:p>
          <a:p>
            <a:r>
              <a:t>Interest earned is reinvested to generate additional interest.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Compounding vs Simple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Interest: Interest only on original principal</a:t>
            </a:r>
          </a:p>
          <a:p>
            <a:r>
              <a:t>Compound Interest: Interest on principal + accumulated interest</a:t>
            </a:r>
          </a:p>
          <a:p>
            <a:r>
              <a:t>Compounding leads to exponential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of Lump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Future Value represents value of current money at a future date.</a:t>
            </a:r>
          </a:p>
          <a:p>
            <a:r>
              <a:rPr dirty="0"/>
              <a:t>Formula:</a:t>
            </a:r>
          </a:p>
          <a:p>
            <a:pPr lvl="1"/>
            <a:r>
              <a:rPr dirty="0"/>
              <a:t>FV = PV (1 + r)^n</a:t>
            </a:r>
          </a:p>
          <a:p>
            <a:r>
              <a:rPr dirty="0"/>
              <a:t>Where:</a:t>
            </a:r>
          </a:p>
          <a:p>
            <a:pPr lvl="1"/>
            <a:r>
              <a:rPr dirty="0"/>
              <a:t>PV = Present Value</a:t>
            </a:r>
          </a:p>
          <a:p>
            <a:pPr lvl="1"/>
            <a:r>
              <a:rPr dirty="0"/>
              <a:t>r = interest rate</a:t>
            </a:r>
          </a:p>
          <a:p>
            <a:pPr lvl="1"/>
            <a:r>
              <a:rPr dirty="0"/>
              <a:t>n = number of periods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Future Value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= ₹10,000</a:t>
            </a:r>
          </a:p>
          <a:p>
            <a:r>
              <a:t>Interest rate = 10%</a:t>
            </a:r>
          </a:p>
          <a:p>
            <a:r>
              <a:t>Years = 3</a:t>
            </a:r>
          </a:p>
          <a:p>
            <a:r>
              <a:t>FV = 10000(1.10)^3</a:t>
            </a:r>
          </a:p>
          <a:p>
            <a:r>
              <a:t>FV = ₹13,310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in savings planning</a:t>
            </a:r>
          </a:p>
          <a:p>
            <a:r>
              <a:rPr dirty="0"/>
              <a:t>Used in retirement planning</a:t>
            </a:r>
          </a:p>
          <a:p>
            <a:r>
              <a:rPr dirty="0"/>
              <a:t>Helps estimate long-term investment growth</a:t>
            </a:r>
          </a:p>
          <a:p>
            <a:r>
              <a:rPr dirty="0"/>
              <a:t>Foundation of financial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Encourages long-term investing</a:t>
            </a:r>
          </a:p>
          <a:p>
            <a:r>
              <a:t>Accelerates wealth growth</a:t>
            </a:r>
          </a:p>
          <a:p>
            <a:r>
              <a:t>Reflects real-world investment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constant interest rate</a:t>
            </a:r>
          </a:p>
          <a:p>
            <a:r>
              <a:t>Does not consider market volatility</a:t>
            </a:r>
          </a:p>
          <a:p>
            <a:r>
              <a:t>Inflation may reduce real returns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Table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FV tables simplify repeated calculations</a:t>
            </a:r>
          </a:p>
          <a:p>
            <a:r>
              <a:t>FV factor = (1+r)^n</a:t>
            </a:r>
          </a:p>
          <a:p>
            <a:r>
              <a:t>Example: r = 10%, n = 3 → FV factor = 1.331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Calculation – Future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function:</a:t>
            </a:r>
          </a:p>
          <a:p>
            <a:r>
              <a:t>=FV(rate, nper, pmt, pv)</a:t>
            </a:r>
          </a:p>
          <a:p>
            <a:r>
              <a:t>Example:</a:t>
            </a:r>
          </a:p>
          <a:p>
            <a:r>
              <a:t>=FV(10%,3,0,-10000)</a:t>
            </a:r>
          </a:p>
          <a:p>
            <a:r>
              <a:t>Returns future value of ₹10,000 after 3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Excel Calculation – Using Power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formula:</a:t>
            </a:r>
          </a:p>
          <a:p>
            <a:r>
              <a:t>=PV*(1+rate)^n</a:t>
            </a:r>
          </a:p>
          <a:p>
            <a:r>
              <a:t>Example:</a:t>
            </a:r>
          </a:p>
          <a:p>
            <a:r>
              <a:t>=10000*(1+10%)^3</a:t>
            </a:r>
          </a:p>
          <a:p>
            <a:r>
              <a:t>Result = 13310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Future Value of Multiple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Sometimes investments occur at different times.</a:t>
            </a:r>
          </a:p>
          <a:p>
            <a:r>
              <a:t>Each cash flow must be compounded separately.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Multiple Investments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0: ₹5,000</a:t>
            </a:r>
          </a:p>
          <a:p>
            <a:r>
              <a:t>Year 1: ₹4,000</a:t>
            </a:r>
          </a:p>
          <a:p>
            <a:r>
              <a:t>Year 2: ₹3,000</a:t>
            </a:r>
          </a:p>
          <a:p>
            <a:r>
              <a:t>Interest rate = 10%</a:t>
            </a:r>
          </a:p>
          <a:p>
            <a:r>
              <a:t>Each amount compounds for different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FV of 5000 for 3 years = 5000(1.10)^3</a:t>
            </a:r>
          </a:p>
          <a:p>
            <a:r>
              <a:t>FV of 4000 for 2 years = 4000(1.10)^2</a:t>
            </a:r>
          </a:p>
          <a:p>
            <a:r>
              <a:t>FV of 3000 for 1 year = 3000(1.10)</a:t>
            </a:r>
          </a:p>
          <a:p>
            <a:r>
              <a:t>Total FV = sum of all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Excel Approach – Multiple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Create timeline in Excel</a:t>
            </a:r>
          </a:p>
          <a:p>
            <a:r>
              <a:t>Step 2: Apply FV formula to each cash flow</a:t>
            </a:r>
          </a:p>
          <a:p>
            <a:r>
              <a:t>Step 3: Sum all future values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Style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Algorithm:</a:t>
            </a:r>
          </a:p>
          <a:p>
            <a:r>
              <a:rPr dirty="0"/>
              <a:t>Input: PV, r, n</a:t>
            </a:r>
          </a:p>
          <a:p>
            <a:r>
              <a:rPr dirty="0"/>
              <a:t>FV = PV</a:t>
            </a:r>
          </a:p>
          <a:p>
            <a:r>
              <a:rPr dirty="0"/>
              <a:t>Repeat n times:</a:t>
            </a:r>
          </a:p>
          <a:p>
            <a:pPr lvl="1"/>
            <a:r>
              <a:rPr dirty="0"/>
              <a:t>FV = FV × (1 + r)</a:t>
            </a:r>
          </a:p>
          <a:p>
            <a:r>
              <a:rPr dirty="0"/>
              <a:t>Output FV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Financial Applications of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deposits</a:t>
            </a:r>
          </a:p>
          <a:p>
            <a:r>
              <a:t>Mutual fund investments</a:t>
            </a:r>
          </a:p>
          <a:p>
            <a:r>
              <a:t>Fixed deposits</a:t>
            </a:r>
          </a:p>
          <a:p>
            <a:r>
              <a:t>Long-term savings plans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₹15,000</a:t>
            </a:r>
          </a:p>
          <a:p>
            <a:r>
              <a:t>Interest rate = 8%</a:t>
            </a:r>
          </a:p>
          <a:p>
            <a:r>
              <a:t>Time = 5 years</a:t>
            </a:r>
          </a:p>
          <a:p>
            <a:r>
              <a:t>Calculate Future Value using formula and Excel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Compounding is core to financial mathematics</a:t>
            </a:r>
          </a:p>
          <a:p>
            <a:r>
              <a:t>Future Value calculations estimate growth of investments</a:t>
            </a:r>
          </a:p>
          <a:p>
            <a:r>
              <a:t>Excel simplifies financial computation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712666-8F2F-49AF-B5AD-9B3A8D88BAEB}"/>
</file>

<file path=customXml/itemProps2.xml><?xml version="1.0" encoding="utf-8"?>
<ds:datastoreItem xmlns:ds="http://schemas.openxmlformats.org/officeDocument/2006/customXml" ds:itemID="{FDFC925C-9369-4916-846C-9ED81AE18F53}"/>
</file>

<file path=customXml/itemProps3.xml><?xml version="1.0" encoding="utf-8"?>
<ds:datastoreItem xmlns:ds="http://schemas.openxmlformats.org/officeDocument/2006/customXml" ds:itemID="{9D3D14F0-29DD-46EB-BFF9-D41E21287574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31</TotalTime>
  <Words>532</Words>
  <Application>Microsoft Office PowerPoint</Application>
  <PresentationFormat>On-screen Show (4:3)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Bahnschrift</vt:lpstr>
      <vt:lpstr>Trebuchet MS</vt:lpstr>
      <vt:lpstr>Tw Cen MT</vt:lpstr>
      <vt:lpstr>Circuit</vt:lpstr>
      <vt:lpstr>Unit IV – Lecture 2 Compounding Technique – Future Value</vt:lpstr>
      <vt:lpstr>Lecture Objectives</vt:lpstr>
      <vt:lpstr>What is Compounding?</vt:lpstr>
      <vt:lpstr>Compounding vs Simple Interest</vt:lpstr>
      <vt:lpstr>Future Value of Lump Sum</vt:lpstr>
      <vt:lpstr>Example – Future Value Calculation</vt:lpstr>
      <vt:lpstr>Importance of Compounding</vt:lpstr>
      <vt:lpstr>Advantages of Compounding</vt:lpstr>
      <vt:lpstr>Limitations of Compounding</vt:lpstr>
      <vt:lpstr>Future Value Table Concept</vt:lpstr>
      <vt:lpstr>Excel Calculation – Future Value</vt:lpstr>
      <vt:lpstr>Excel Calculation – Using Power Formula</vt:lpstr>
      <vt:lpstr>Future Value of Multiple Cash Flows</vt:lpstr>
      <vt:lpstr>Example – Multiple Investments</vt:lpstr>
      <vt:lpstr>Future Value Computation</vt:lpstr>
      <vt:lpstr>Excel Approach – Multiple Cash Flows</vt:lpstr>
      <vt:lpstr>Programming Style Thinking</vt:lpstr>
      <vt:lpstr>Financial Applications of Compounding</vt:lpstr>
      <vt:lpstr>Exercise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Time Value of Money | Lecture 2</dc:title>
  <dc:subject/>
  <dc:creator/>
  <cp:keywords/>
  <dc:description>generated using python-pptx</dc:description>
  <cp:lastModifiedBy>Darshit Shah</cp:lastModifiedBy>
  <cp:revision>4</cp:revision>
  <dcterms:created xsi:type="dcterms:W3CDTF">2013-01-27T09:14:16Z</dcterms:created>
  <dcterms:modified xsi:type="dcterms:W3CDTF">2026-04-05T16:56:52Z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
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48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56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33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22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5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51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90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40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8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21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1057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28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1906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19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47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1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Ratio Analysis (Part 1</a:t>
            </a:r>
            <a:r>
              <a:rPr lang="en-IN" dirty="0" smtClean="0"/>
              <a:t>)</a:t>
            </a:r>
            <a:endParaRPr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722818" y="4997478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By Dr. Darshit SHAH</a:t>
            </a:r>
          </a:p>
          <a:p>
            <a:pPr>
              <a:spcBef>
                <a:spcPct val="0"/>
              </a:spcBef>
            </a:pPr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CSE, </a:t>
            </a:r>
            <a:r>
              <a:rPr lang="en-US" sz="36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SoT</a:t>
            </a:r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, PDEU</a:t>
            </a: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719137" y="2444751"/>
            <a:ext cx="7705726" cy="1968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/>
              <a:t>Course: Financial Management (24CSB221T)</a:t>
            </a:r>
            <a:endParaRPr lang="en-IN" sz="2800" dirty="0" smtClean="0"/>
          </a:p>
          <a:p>
            <a:r>
              <a:rPr sz="2800" dirty="0" smtClean="0"/>
              <a:t>Unit </a:t>
            </a:r>
            <a:r>
              <a:rPr sz="2800" dirty="0"/>
              <a:t>III – </a:t>
            </a:r>
            <a:r>
              <a:rPr lang="en-IN" sz="2800" dirty="0"/>
              <a:t>Understanding and Analysis of </a:t>
            </a:r>
            <a:r>
              <a:rPr lang="en-IN" sz="2800" dirty="0" smtClean="0"/>
              <a:t>Financial statements</a:t>
            </a:r>
          </a:p>
          <a:p>
            <a:r>
              <a:rPr lang="en-IN" sz="2800" dirty="0" smtClean="0"/>
              <a:t>B.Tech</a:t>
            </a:r>
            <a:r>
              <a:rPr lang="en-IN" sz="2800" dirty="0"/>
              <a:t>. (CSBS) – Semester IV</a:t>
            </a:r>
            <a:endParaRPr sz="28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After completing this lecture students should be able to:</a:t>
            </a:r>
          </a:p>
          <a:p>
            <a:endParaRPr sz="2000" dirty="0"/>
          </a:p>
          <a:p>
            <a:r>
              <a:rPr sz="2000" dirty="0" smtClean="0"/>
              <a:t>Understand </a:t>
            </a:r>
            <a:r>
              <a:rPr sz="2000" dirty="0"/>
              <a:t>the concept of ratio analysis</a:t>
            </a:r>
          </a:p>
          <a:p>
            <a:r>
              <a:rPr sz="2000" dirty="0" smtClean="0"/>
              <a:t>Interpret </a:t>
            </a:r>
            <a:r>
              <a:rPr sz="2000" dirty="0"/>
              <a:t>financial ratios for decision making</a:t>
            </a:r>
          </a:p>
          <a:p>
            <a:r>
              <a:rPr sz="2000" dirty="0" smtClean="0"/>
              <a:t>Calculate </a:t>
            </a:r>
            <a:r>
              <a:rPr sz="2000" dirty="0"/>
              <a:t>liquidity ratios</a:t>
            </a:r>
          </a:p>
          <a:p>
            <a:r>
              <a:rPr sz="2000" dirty="0" err="1" smtClean="0"/>
              <a:t>Analyse</a:t>
            </a:r>
            <a:r>
              <a:rPr sz="2000" dirty="0" smtClean="0"/>
              <a:t> </a:t>
            </a:r>
            <a:r>
              <a:rPr sz="2000" dirty="0"/>
              <a:t>short‑term financial strength of a firm</a:t>
            </a:r>
          </a:p>
          <a:p>
            <a:r>
              <a:rPr sz="2000" dirty="0" smtClean="0"/>
              <a:t>Interpret </a:t>
            </a:r>
            <a:r>
              <a:rPr sz="2000" dirty="0"/>
              <a:t>liquidity ratios in managerial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Assignment – Prasanna Chandra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 err="1"/>
              <a:t>Prasanna</a:t>
            </a:r>
            <a:r>
              <a:rPr sz="2000" dirty="0"/>
              <a:t> Chandra (2019)</a:t>
            </a:r>
          </a:p>
          <a:p>
            <a:r>
              <a:rPr sz="2000" dirty="0"/>
              <a:t>Financial Management: Theory and Practice</a:t>
            </a:r>
          </a:p>
          <a:p>
            <a:r>
              <a:rPr sz="2000" dirty="0" smtClean="0"/>
              <a:t>Suggested </a:t>
            </a:r>
            <a:r>
              <a:rPr sz="2000" dirty="0"/>
              <a:t>Reading: Pages 140 – 165</a:t>
            </a:r>
          </a:p>
          <a:p>
            <a:endParaRPr sz="2000" dirty="0"/>
          </a:p>
          <a:p>
            <a:r>
              <a:rPr sz="2000" dirty="0"/>
              <a:t>Focus Areas:</a:t>
            </a:r>
          </a:p>
          <a:p>
            <a:pPr lvl="1"/>
            <a:r>
              <a:rPr sz="2000" dirty="0" smtClean="0"/>
              <a:t>Ratio </a:t>
            </a:r>
            <a:r>
              <a:rPr sz="2000" dirty="0"/>
              <a:t>analysis</a:t>
            </a:r>
          </a:p>
          <a:p>
            <a:pPr lvl="1"/>
            <a:r>
              <a:rPr sz="2000" dirty="0" smtClean="0"/>
              <a:t>Liquidity </a:t>
            </a:r>
            <a:r>
              <a:rPr sz="2000" dirty="0"/>
              <a:t>ratios</a:t>
            </a:r>
          </a:p>
          <a:p>
            <a:pPr lvl="1"/>
            <a:r>
              <a:rPr sz="2000" dirty="0" smtClean="0"/>
              <a:t>Interpretation </a:t>
            </a:r>
            <a:r>
              <a:rPr sz="2000" dirty="0"/>
              <a:t>of ratios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of Ratio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Ratio analysis is a technique used to evaluate the </a:t>
            </a:r>
            <a:r>
              <a:rPr sz="2000" dirty="0" smtClean="0"/>
              <a:t>financial</a:t>
            </a:r>
            <a:r>
              <a:rPr lang="en-IN" sz="2000" dirty="0" smtClean="0"/>
              <a:t> </a:t>
            </a:r>
            <a:r>
              <a:rPr sz="2000" dirty="0" smtClean="0"/>
              <a:t>performance </a:t>
            </a:r>
            <a:r>
              <a:rPr sz="2000" dirty="0"/>
              <a:t>of a company by </a:t>
            </a:r>
            <a:r>
              <a:rPr sz="2000" dirty="0" err="1"/>
              <a:t>analysing</a:t>
            </a:r>
            <a:r>
              <a:rPr sz="2000" dirty="0"/>
              <a:t> relationships </a:t>
            </a:r>
            <a:r>
              <a:rPr sz="2000" dirty="0" smtClean="0"/>
              <a:t>between</a:t>
            </a:r>
            <a:r>
              <a:rPr lang="en-IN" sz="2000" dirty="0" smtClean="0"/>
              <a:t> </a:t>
            </a:r>
            <a:r>
              <a:rPr sz="2000" dirty="0" smtClean="0"/>
              <a:t>different </a:t>
            </a:r>
            <a:r>
              <a:rPr sz="2000" dirty="0"/>
              <a:t>financial statement items.</a:t>
            </a:r>
          </a:p>
          <a:p>
            <a:endParaRPr sz="2000" dirty="0"/>
          </a:p>
          <a:p>
            <a:r>
              <a:rPr sz="2000" dirty="0"/>
              <a:t>Ratios help transform raw accounting numbers into meaningful </a:t>
            </a:r>
            <a:r>
              <a:rPr sz="2000" dirty="0" smtClean="0"/>
              <a:t>indicators</a:t>
            </a:r>
            <a:r>
              <a:rPr lang="en-IN" sz="2000" dirty="0" smtClean="0"/>
              <a:t> </a:t>
            </a:r>
            <a:r>
              <a:rPr sz="2000" dirty="0" smtClean="0"/>
              <a:t>of </a:t>
            </a:r>
            <a:r>
              <a:rPr sz="2000" dirty="0"/>
              <a:t>financial health.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Ratio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 smtClean="0"/>
              <a:t>Ratio analysis helps:</a:t>
            </a:r>
          </a:p>
          <a:p>
            <a:endParaRPr sz="2000" dirty="0" smtClean="0"/>
          </a:p>
          <a:p>
            <a:r>
              <a:rPr sz="2000" dirty="0" smtClean="0"/>
              <a:t>Evaluate financial performance</a:t>
            </a:r>
          </a:p>
          <a:p>
            <a:r>
              <a:rPr sz="2000" dirty="0" smtClean="0"/>
              <a:t>Compare firms within an industry</a:t>
            </a:r>
          </a:p>
          <a:p>
            <a:r>
              <a:rPr sz="2000" dirty="0" err="1" smtClean="0"/>
              <a:t>Analyse</a:t>
            </a:r>
            <a:r>
              <a:rPr sz="2000" dirty="0" smtClean="0"/>
              <a:t> financial trends</a:t>
            </a:r>
          </a:p>
          <a:p>
            <a:r>
              <a:rPr sz="2000" dirty="0" smtClean="0"/>
              <a:t>Support investment and lending decisions</a:t>
            </a:r>
          </a:p>
          <a:p>
            <a:r>
              <a:rPr sz="2000" dirty="0" smtClean="0"/>
              <a:t>Identify financial strengths and weaknesses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Financial 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Major categories of financial ratios:</a:t>
            </a:r>
          </a:p>
          <a:p>
            <a:endParaRPr sz="2000" dirty="0"/>
          </a:p>
          <a:p>
            <a:r>
              <a:rPr sz="2000" dirty="0" smtClean="0"/>
              <a:t>Liquidity </a:t>
            </a:r>
            <a:r>
              <a:rPr sz="2000" dirty="0"/>
              <a:t>Ratios</a:t>
            </a:r>
          </a:p>
          <a:p>
            <a:r>
              <a:rPr sz="2000" dirty="0" smtClean="0"/>
              <a:t>Solvency </a:t>
            </a:r>
            <a:r>
              <a:rPr sz="2000" dirty="0"/>
              <a:t>Ratios</a:t>
            </a:r>
          </a:p>
          <a:p>
            <a:r>
              <a:rPr sz="2000" dirty="0" smtClean="0"/>
              <a:t>Activity </a:t>
            </a:r>
            <a:r>
              <a:rPr sz="2000" dirty="0"/>
              <a:t>Ratios</a:t>
            </a:r>
          </a:p>
          <a:p>
            <a:r>
              <a:rPr sz="2000" dirty="0" smtClean="0"/>
              <a:t>Profitability </a:t>
            </a:r>
            <a:r>
              <a:rPr sz="2000" dirty="0"/>
              <a:t>Ratios</a:t>
            </a:r>
          </a:p>
          <a:p>
            <a:r>
              <a:rPr sz="2000" dirty="0" smtClean="0"/>
              <a:t>Market </a:t>
            </a:r>
            <a:r>
              <a:rPr sz="2000" dirty="0"/>
              <a:t>Value Ratios</a:t>
            </a:r>
          </a:p>
          <a:p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Liquidity 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Liquidity ratios measure the ability of a </a:t>
            </a:r>
            <a:r>
              <a:rPr sz="2000" dirty="0" smtClean="0"/>
              <a:t>company</a:t>
            </a:r>
            <a:r>
              <a:rPr lang="en-IN" sz="2000" dirty="0" smtClean="0"/>
              <a:t> </a:t>
            </a:r>
            <a:r>
              <a:rPr sz="2000" dirty="0" smtClean="0"/>
              <a:t>to </a:t>
            </a:r>
            <a:r>
              <a:rPr sz="2000" dirty="0"/>
              <a:t>meet its short‑term obligations.</a:t>
            </a:r>
          </a:p>
          <a:p>
            <a:endParaRPr sz="2000" dirty="0"/>
          </a:p>
          <a:p>
            <a:r>
              <a:rPr sz="2000" dirty="0"/>
              <a:t>These ratios indicate whether a firm can pay </a:t>
            </a:r>
            <a:r>
              <a:rPr sz="2000" dirty="0" smtClean="0"/>
              <a:t>its</a:t>
            </a:r>
            <a:r>
              <a:rPr lang="en-IN" sz="2000" dirty="0" smtClean="0"/>
              <a:t> </a:t>
            </a:r>
            <a:r>
              <a:rPr sz="2000" dirty="0" smtClean="0"/>
              <a:t>current </a:t>
            </a:r>
            <a:r>
              <a:rPr sz="2000" dirty="0"/>
              <a:t>liabilities using current assets.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Current Ratio measures the relationship </a:t>
            </a:r>
            <a:r>
              <a:rPr sz="2000" dirty="0" smtClean="0"/>
              <a:t>between</a:t>
            </a:r>
            <a:r>
              <a:rPr lang="en-IN" sz="2000" dirty="0" smtClean="0"/>
              <a:t> </a:t>
            </a:r>
            <a:r>
              <a:rPr sz="2000" dirty="0" smtClean="0"/>
              <a:t>current </a:t>
            </a:r>
            <a:r>
              <a:rPr sz="2000" dirty="0"/>
              <a:t>assets and current liabilities.</a:t>
            </a:r>
          </a:p>
          <a:p>
            <a:endParaRPr sz="2000" dirty="0"/>
          </a:p>
          <a:p>
            <a:r>
              <a:rPr sz="2000" dirty="0"/>
              <a:t>Formula:</a:t>
            </a:r>
          </a:p>
          <a:p>
            <a:r>
              <a:rPr sz="2000" dirty="0" smtClean="0"/>
              <a:t>Current </a:t>
            </a:r>
            <a:r>
              <a:rPr sz="2000" dirty="0"/>
              <a:t>Ratio = Current Assets / Current Liabilities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Ratio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Company A</a:t>
            </a:r>
          </a:p>
          <a:p>
            <a:endParaRPr sz="2000" dirty="0"/>
          </a:p>
          <a:p>
            <a:r>
              <a:rPr sz="2000" dirty="0"/>
              <a:t>Current Assets = ₹40,00,000</a:t>
            </a:r>
          </a:p>
          <a:p>
            <a:r>
              <a:rPr sz="2000" dirty="0"/>
              <a:t>Current Liabilities = ₹20,00,000</a:t>
            </a:r>
          </a:p>
          <a:p>
            <a:endParaRPr sz="2000" dirty="0"/>
          </a:p>
          <a:p>
            <a:r>
              <a:rPr sz="2000" dirty="0"/>
              <a:t>Current Ratio = 40,00,000 / 20,00,000</a:t>
            </a:r>
          </a:p>
          <a:p>
            <a:endParaRPr sz="2000" dirty="0"/>
          </a:p>
          <a:p>
            <a:r>
              <a:rPr sz="2000" dirty="0"/>
              <a:t>Current Ratio = 2 :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of Current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A current ratio of 2:1 is often considered satisfactory.</a:t>
            </a:r>
          </a:p>
          <a:p>
            <a:endParaRPr sz="2000" dirty="0"/>
          </a:p>
          <a:p>
            <a:r>
              <a:rPr sz="2000" dirty="0"/>
              <a:t>Higher ratio indicates stronger liquidity.</a:t>
            </a:r>
          </a:p>
          <a:p>
            <a:endParaRPr sz="2000" dirty="0"/>
          </a:p>
          <a:p>
            <a:r>
              <a:rPr sz="2000" dirty="0"/>
              <a:t>However very high ratio may indicate inefficient use of assets.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Quick ratio (Acid Test Ratio) measures the </a:t>
            </a:r>
            <a:r>
              <a:rPr sz="2000" dirty="0" smtClean="0"/>
              <a:t>ability</a:t>
            </a:r>
            <a:r>
              <a:rPr lang="en-IN" sz="2000" dirty="0" smtClean="0"/>
              <a:t> </a:t>
            </a:r>
            <a:r>
              <a:rPr sz="2000" dirty="0" smtClean="0"/>
              <a:t>to </a:t>
            </a:r>
            <a:r>
              <a:rPr sz="2000" dirty="0"/>
              <a:t>meet short‑term obligations without relying on inventory.</a:t>
            </a:r>
          </a:p>
          <a:p>
            <a:endParaRPr sz="2000" dirty="0"/>
          </a:p>
          <a:p>
            <a:r>
              <a:rPr sz="2000" dirty="0"/>
              <a:t>Formula:</a:t>
            </a:r>
          </a:p>
          <a:p>
            <a:r>
              <a:rPr sz="2000" dirty="0" smtClean="0"/>
              <a:t>Quick </a:t>
            </a:r>
            <a:r>
              <a:rPr sz="2000" dirty="0"/>
              <a:t>Ratio = (Current Assets – Inventory) / Current Liabilities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Ratio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Company A</a:t>
            </a:r>
          </a:p>
          <a:p>
            <a:endParaRPr sz="2000" dirty="0"/>
          </a:p>
          <a:p>
            <a:r>
              <a:rPr sz="2000" dirty="0"/>
              <a:t>Current Assets = ₹50,00,000</a:t>
            </a:r>
          </a:p>
          <a:p>
            <a:r>
              <a:rPr sz="2000" dirty="0"/>
              <a:t>Inventory = ₹20,00,000</a:t>
            </a:r>
          </a:p>
          <a:p>
            <a:r>
              <a:rPr sz="2000" dirty="0"/>
              <a:t>Current Liabilities = ₹25,00,000</a:t>
            </a:r>
          </a:p>
          <a:p>
            <a:endParaRPr sz="2000" dirty="0"/>
          </a:p>
          <a:p>
            <a:r>
              <a:rPr sz="2000" dirty="0"/>
              <a:t>Quick Ratio = (50,00,000 – 20,00,000) / 25,00,000</a:t>
            </a:r>
          </a:p>
          <a:p>
            <a:endParaRPr sz="2000" dirty="0"/>
          </a:p>
          <a:p>
            <a:r>
              <a:rPr sz="2000" dirty="0"/>
              <a:t>Quick Ratio = 1.2 :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of Quick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A quick ratio close to 1:1 indicates adequate liquidity.</a:t>
            </a:r>
          </a:p>
          <a:p>
            <a:endParaRPr sz="2000" dirty="0"/>
          </a:p>
          <a:p>
            <a:r>
              <a:rPr sz="2000" dirty="0"/>
              <a:t>If quick ratio is very low, the company may </a:t>
            </a:r>
            <a:r>
              <a:rPr sz="2000" dirty="0" smtClean="0"/>
              <a:t>struggle</a:t>
            </a:r>
            <a:r>
              <a:rPr lang="en-IN" sz="2000" dirty="0" smtClean="0"/>
              <a:t> </a:t>
            </a:r>
            <a:r>
              <a:rPr sz="2000" dirty="0" smtClean="0"/>
              <a:t>to </a:t>
            </a:r>
            <a:r>
              <a:rPr sz="2000" dirty="0"/>
              <a:t>meet short‑term obligations.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Cash ratio measures the ability of a </a:t>
            </a:r>
            <a:r>
              <a:rPr sz="2000" dirty="0" smtClean="0"/>
              <a:t>company</a:t>
            </a:r>
            <a:r>
              <a:rPr lang="en-IN" sz="2000" dirty="0" smtClean="0"/>
              <a:t> </a:t>
            </a:r>
            <a:r>
              <a:rPr sz="2000" dirty="0" smtClean="0"/>
              <a:t>to </a:t>
            </a:r>
            <a:r>
              <a:rPr sz="2000" dirty="0"/>
              <a:t>pay current liabilities using only cash and cash equivalents.</a:t>
            </a:r>
          </a:p>
          <a:p>
            <a:endParaRPr sz="2000" dirty="0"/>
          </a:p>
          <a:p>
            <a:r>
              <a:rPr sz="2000" dirty="0"/>
              <a:t>Formula:</a:t>
            </a:r>
          </a:p>
          <a:p>
            <a:r>
              <a:rPr sz="2000" dirty="0" smtClean="0"/>
              <a:t>Cash </a:t>
            </a:r>
            <a:r>
              <a:rPr sz="2000" dirty="0"/>
              <a:t>Ratio = Cash / Current Liabilities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Ratio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Company A</a:t>
            </a:r>
          </a:p>
          <a:p>
            <a:endParaRPr sz="2000" dirty="0"/>
          </a:p>
          <a:p>
            <a:r>
              <a:rPr sz="2000" dirty="0"/>
              <a:t>Cash = ₹8,00,000</a:t>
            </a:r>
          </a:p>
          <a:p>
            <a:r>
              <a:rPr sz="2000" dirty="0"/>
              <a:t>Current Liabilities = ₹20,00,000</a:t>
            </a:r>
          </a:p>
          <a:p>
            <a:endParaRPr sz="2000" dirty="0"/>
          </a:p>
          <a:p>
            <a:r>
              <a:rPr sz="2000" dirty="0"/>
              <a:t>Cash Ratio = 8,00,000 / 20,00,000</a:t>
            </a:r>
          </a:p>
          <a:p>
            <a:endParaRPr sz="2000" dirty="0"/>
          </a:p>
          <a:p>
            <a:r>
              <a:rPr sz="2000" dirty="0"/>
              <a:t>Cash Ratio = 0.4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Liquidity Ratio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Current Ratio → Overall liquidity</a:t>
            </a:r>
          </a:p>
          <a:p>
            <a:endParaRPr sz="2000" dirty="0"/>
          </a:p>
          <a:p>
            <a:r>
              <a:rPr sz="2000" dirty="0"/>
              <a:t>Quick Ratio → Liquidity excluding inventory</a:t>
            </a:r>
          </a:p>
          <a:p>
            <a:endParaRPr sz="2000" dirty="0"/>
          </a:p>
          <a:p>
            <a:r>
              <a:rPr sz="2000" dirty="0"/>
              <a:t>Cash Ratio → Immediate liquidity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Calculate Different Ratios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Company A</a:t>
            </a:r>
          </a:p>
          <a:p>
            <a:endParaRPr sz="2000" dirty="0"/>
          </a:p>
          <a:p>
            <a:r>
              <a:rPr sz="2000" dirty="0"/>
              <a:t>Current Assets = ₹60,00,000</a:t>
            </a:r>
          </a:p>
          <a:p>
            <a:r>
              <a:rPr sz="2000" dirty="0"/>
              <a:t>Inventory = ₹25,00,000</a:t>
            </a:r>
          </a:p>
          <a:p>
            <a:r>
              <a:rPr sz="2000" dirty="0"/>
              <a:t>Cash = ₹10,00,000</a:t>
            </a:r>
          </a:p>
          <a:p>
            <a:r>
              <a:rPr sz="2000" dirty="0"/>
              <a:t>Current Liabilities = ₹30,00,000</a:t>
            </a:r>
          </a:p>
          <a:p>
            <a:endParaRPr sz="2000" dirty="0"/>
          </a:p>
          <a:p>
            <a:r>
              <a:rPr sz="2000" dirty="0"/>
              <a:t>Calculate:</a:t>
            </a:r>
          </a:p>
          <a:p>
            <a:r>
              <a:rPr sz="2000" dirty="0" smtClean="0"/>
              <a:t>1</a:t>
            </a:r>
            <a:r>
              <a:rPr sz="2000" dirty="0"/>
              <a:t>. Current </a:t>
            </a:r>
            <a:r>
              <a:rPr sz="2000" dirty="0" smtClean="0"/>
              <a:t>Ratio</a:t>
            </a:r>
            <a:r>
              <a:rPr lang="en-IN" sz="2000" dirty="0" smtClean="0"/>
              <a:t>     </a:t>
            </a:r>
            <a:r>
              <a:rPr sz="2000" dirty="0" smtClean="0"/>
              <a:t>2</a:t>
            </a:r>
            <a:r>
              <a:rPr sz="2000" dirty="0"/>
              <a:t>. Quick </a:t>
            </a:r>
            <a:r>
              <a:rPr sz="2000" dirty="0" smtClean="0"/>
              <a:t>Ratio</a:t>
            </a:r>
            <a:r>
              <a:rPr lang="en-IN" sz="2000" dirty="0" smtClean="0"/>
              <a:t>      </a:t>
            </a:r>
            <a:r>
              <a:rPr sz="2000" dirty="0" smtClean="0"/>
              <a:t>3</a:t>
            </a:r>
            <a:r>
              <a:rPr sz="2000" dirty="0"/>
              <a:t>. Cash Ratio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7034214" cy="3880773"/>
          </a:xfrm>
        </p:spPr>
        <p:txBody>
          <a:bodyPr>
            <a:normAutofit/>
          </a:bodyPr>
          <a:lstStyle/>
          <a:p>
            <a:r>
              <a:rPr sz="2000" dirty="0"/>
              <a:t>Current Ratio = 60,00,000 / 30,00,000 = 2</a:t>
            </a:r>
          </a:p>
          <a:p>
            <a:endParaRPr sz="2000" dirty="0"/>
          </a:p>
          <a:p>
            <a:r>
              <a:rPr sz="2000" dirty="0"/>
              <a:t>Quick Ratio = (60,00,000 – 25,00,000) / 30,00,000 = 1.17</a:t>
            </a:r>
          </a:p>
          <a:p>
            <a:endParaRPr sz="2000" dirty="0"/>
          </a:p>
          <a:p>
            <a:r>
              <a:rPr sz="2000" dirty="0"/>
              <a:t>Cash Ratio = 10,00,000 / 30,00,000 = 0.33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Managerial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Managers </a:t>
            </a:r>
            <a:r>
              <a:rPr sz="2000" dirty="0" err="1"/>
              <a:t>analyse</a:t>
            </a:r>
            <a:r>
              <a:rPr sz="2000" dirty="0"/>
              <a:t> liquidity ratios to:</a:t>
            </a:r>
          </a:p>
          <a:p>
            <a:endParaRPr sz="2000" dirty="0"/>
          </a:p>
          <a:p>
            <a:pPr lvl="1"/>
            <a:r>
              <a:rPr sz="2000" dirty="0" smtClean="0"/>
              <a:t>Ensure </a:t>
            </a:r>
            <a:r>
              <a:rPr sz="2000" dirty="0"/>
              <a:t>adequate working capital</a:t>
            </a:r>
          </a:p>
          <a:p>
            <a:pPr lvl="1"/>
            <a:r>
              <a:rPr sz="2000" dirty="0" smtClean="0"/>
              <a:t>Avoid </a:t>
            </a:r>
            <a:r>
              <a:rPr sz="2000" dirty="0"/>
              <a:t>short‑term financial distress</a:t>
            </a:r>
          </a:p>
          <a:p>
            <a:pPr lvl="1"/>
            <a:r>
              <a:rPr sz="2000" dirty="0" smtClean="0"/>
              <a:t>Maintain </a:t>
            </a:r>
            <a:r>
              <a:rPr sz="2000" dirty="0"/>
              <a:t>creditor confidence</a:t>
            </a:r>
          </a:p>
          <a:p>
            <a:pPr lvl="1"/>
            <a:r>
              <a:rPr sz="2000" dirty="0" smtClean="0"/>
              <a:t>Plan </a:t>
            </a:r>
            <a:r>
              <a:rPr sz="2000" dirty="0"/>
              <a:t>working capital management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Ratio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Ratio analysis has certain limitations:</a:t>
            </a:r>
          </a:p>
          <a:p>
            <a:pPr lvl="1"/>
            <a:r>
              <a:rPr sz="2000" dirty="0" smtClean="0"/>
              <a:t>Based </a:t>
            </a:r>
            <a:r>
              <a:rPr sz="2000" dirty="0"/>
              <a:t>on historical accounting data</a:t>
            </a:r>
          </a:p>
          <a:p>
            <a:pPr lvl="1"/>
            <a:r>
              <a:rPr sz="2000" dirty="0" smtClean="0"/>
              <a:t>Influenced </a:t>
            </a:r>
            <a:r>
              <a:rPr sz="2000" dirty="0"/>
              <a:t>by accounting policies</a:t>
            </a:r>
          </a:p>
          <a:p>
            <a:pPr lvl="1"/>
            <a:r>
              <a:rPr sz="2000" dirty="0" smtClean="0"/>
              <a:t>Requires </a:t>
            </a:r>
            <a:r>
              <a:rPr sz="2000" dirty="0"/>
              <a:t>industry comparison</a:t>
            </a:r>
          </a:p>
          <a:p>
            <a:pPr lvl="1"/>
            <a:r>
              <a:rPr sz="2000" dirty="0" smtClean="0"/>
              <a:t>Single </a:t>
            </a:r>
            <a:r>
              <a:rPr sz="2000" dirty="0"/>
              <a:t>ratio cannot give complete </a:t>
            </a:r>
            <a:r>
              <a:rPr sz="2000" dirty="0" smtClean="0"/>
              <a:t>picture</a:t>
            </a:r>
            <a:endParaRPr lang="en-IN" sz="2000" dirty="0" smtClean="0"/>
          </a:p>
          <a:p>
            <a:pPr lvl="1"/>
            <a:endParaRPr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 smtClean="0"/>
              <a:t>Ratio </a:t>
            </a:r>
            <a:r>
              <a:rPr sz="2000" dirty="0"/>
              <a:t>analysis evaluates financial performance</a:t>
            </a:r>
          </a:p>
          <a:p>
            <a:r>
              <a:rPr sz="2000" dirty="0" smtClean="0"/>
              <a:t>Liquidity </a:t>
            </a:r>
            <a:r>
              <a:rPr sz="2000" dirty="0"/>
              <a:t>ratios measure short‑term solvency</a:t>
            </a:r>
          </a:p>
          <a:p>
            <a:r>
              <a:rPr sz="2000" dirty="0" smtClean="0"/>
              <a:t>Current</a:t>
            </a:r>
            <a:r>
              <a:rPr sz="2000" dirty="0"/>
              <a:t>, Quick and Cash ratios are key liquidity indicators</a:t>
            </a:r>
          </a:p>
          <a:p>
            <a:r>
              <a:rPr sz="2000" smtClean="0"/>
              <a:t>Ratio </a:t>
            </a:r>
            <a:r>
              <a:rPr sz="2000" dirty="0"/>
              <a:t>interpretation is essential for financial decision 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593801191DF4D984FE1A4D4B0D7E7" ma:contentTypeVersion="3" ma:contentTypeDescription="Create a new document." ma:contentTypeScope="" ma:versionID="e39092a7b4b27737e8a209021adc68b3">
  <xsd:schema xmlns:xsd="http://www.w3.org/2001/XMLSchema" xmlns:xs="http://www.w3.org/2001/XMLSchema" xmlns:p="http://schemas.microsoft.com/office/2006/metadata/properties" xmlns:ns2="a97a8ad6-67d7-4123-ae64-ac343da58d72" targetNamespace="http://schemas.microsoft.com/office/2006/metadata/properties" ma:root="true" ma:fieldsID="5b71e39e27f0c01b1326b4cb4b655a4e" ns2:_="">
    <xsd:import namespace="a97a8ad6-67d7-4123-ae64-ac343da58d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a8ad6-67d7-4123-ae64-ac343da58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7716616-5ED8-4D7D-94BB-CB3C0D94C573}"/>
</file>

<file path=customXml/itemProps2.xml><?xml version="1.0" encoding="utf-8"?>
<ds:datastoreItem xmlns:ds="http://schemas.openxmlformats.org/officeDocument/2006/customXml" ds:itemID="{1AEE6F1F-5130-4944-98C0-B021A5A4AF5A}"/>
</file>

<file path=customXml/itemProps3.xml><?xml version="1.0" encoding="utf-8"?>
<ds:datastoreItem xmlns:ds="http://schemas.openxmlformats.org/officeDocument/2006/customXml" ds:itemID="{0203D52F-9099-4B0B-ADDA-58B139EEBA17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636</Words>
  <Application>Microsoft Office PowerPoint</Application>
  <PresentationFormat>On-screen Show (4:3)</PresentationFormat>
  <Paragraphs>140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Trebuchet MS</vt:lpstr>
      <vt:lpstr>Wingdings 3</vt:lpstr>
      <vt:lpstr>Facet</vt:lpstr>
      <vt:lpstr>Ratio Analysis (Part 1)</vt:lpstr>
      <vt:lpstr>Learning Objectives</vt:lpstr>
      <vt:lpstr>Reading Assignment – Prasanna Chandra</vt:lpstr>
      <vt:lpstr>Meaning of Ratio Analysis</vt:lpstr>
      <vt:lpstr>Importance of Ratio Analysis</vt:lpstr>
      <vt:lpstr>Types of Financial Ratios</vt:lpstr>
      <vt:lpstr>Liquidity Ratios</vt:lpstr>
      <vt:lpstr>Current Ratio</vt:lpstr>
      <vt:lpstr>Current Ratio Example</vt:lpstr>
      <vt:lpstr>Interpretation of Current Ratio</vt:lpstr>
      <vt:lpstr>Quick Ratio</vt:lpstr>
      <vt:lpstr>Quick Ratio Example</vt:lpstr>
      <vt:lpstr>Interpretation of Quick Ratio</vt:lpstr>
      <vt:lpstr>Cash Ratio</vt:lpstr>
      <vt:lpstr>Cash Ratio Example</vt:lpstr>
      <vt:lpstr>Liquidity Ratio Comparison</vt:lpstr>
      <vt:lpstr>Calculate Different Ratios</vt:lpstr>
      <vt:lpstr>Solution</vt:lpstr>
      <vt:lpstr>Managerial Interpretation</vt:lpstr>
      <vt:lpstr>Limitations of Ratio Analysis</vt:lpstr>
      <vt:lpstr>Key Takeaways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Analysis (Part 1)</dc:title>
  <dc:subject/>
  <dc:creator/>
  <cp:keywords/>
  <dc:description>generated using python-pptx</dc:description>
  <cp:lastModifiedBy>Darshit Shah</cp:lastModifiedBy>
  <cp:revision>3</cp:revision>
  <dcterms:created xsi:type="dcterms:W3CDTF">2013-01-27T09:14:16Z</dcterms:created>
  <dcterms:modified xsi:type="dcterms:W3CDTF">2026-03-30T04:29:10Z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0x010100157593801191DF4D984FE1A4D4B0D7E7</vt:lpwstr>
  </property>
</Properties>
</file>
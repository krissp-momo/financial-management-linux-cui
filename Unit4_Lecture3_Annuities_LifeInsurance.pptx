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392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customXml" Target="../customXml/item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openxmlformats.org/officeDocument/2006/relationships/customXml" Target="../customXml/item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6" name="Group 65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67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68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9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0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71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2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3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4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5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6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7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8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79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0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1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2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3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4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5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6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7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8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89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0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1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2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3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4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5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96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7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8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99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0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1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2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3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4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5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6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7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08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09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0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1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2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3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4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5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6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7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8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19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20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00238" y="1122363"/>
            <a:ext cx="6593681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00238" y="3602038"/>
            <a:ext cx="6593681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801052" y="5410202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00237" y="5410202"/>
            <a:ext cx="384366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915603" y="5410200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90970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Bahnschrift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856060" y="2249487"/>
            <a:ext cx="7429499" cy="3541714"/>
          </a:xfrm>
        </p:spPr>
        <p:txBody>
          <a:bodyPr/>
          <a:lstStyle>
            <a:lvl1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1pPr>
            <a:lvl2pPr>
              <a:defRPr sz="2200">
                <a:solidFill>
                  <a:schemeClr val="bg1"/>
                </a:solidFill>
                <a:latin typeface="Bahnschrift" panose="020B0502040204020203" pitchFamily="34" charset="0"/>
              </a:defRPr>
            </a:lvl2pPr>
            <a:lvl3pPr>
              <a:defRPr>
                <a:solidFill>
                  <a:schemeClr val="bg1"/>
                </a:solidFill>
                <a:latin typeface="Bahnschrift" panose="020B0502040204020203" pitchFamily="34" charset="0"/>
              </a:defRPr>
            </a:lvl3pPr>
            <a:lvl4pPr>
              <a:defRPr>
                <a:solidFill>
                  <a:schemeClr val="bg1"/>
                </a:solidFill>
                <a:latin typeface="Bahnschrift" panose="020B0502040204020203" pitchFamily="34" charset="0"/>
              </a:defRPr>
            </a:lvl4pPr>
            <a:lvl5pPr>
              <a:defRPr>
                <a:solidFill>
                  <a:schemeClr val="bg1"/>
                </a:solidFill>
                <a:latin typeface="Bahnschrift" panose="020B0502040204020203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9" name="Date Placeholder 3"/>
          <p:cNvSpPr>
            <a:spLocks noGrp="1"/>
          </p:cNvSpPr>
          <p:nvPr>
            <p:ph type="dt" sz="half" idx="10"/>
          </p:nvPr>
        </p:nvSpPr>
        <p:spPr>
          <a:xfrm>
            <a:off x="5592691" y="5883277"/>
            <a:ext cx="20574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56059" y="5883276"/>
            <a:ext cx="467948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07241" y="5883275"/>
            <a:ext cx="578317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2659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1419227"/>
            <a:ext cx="74295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58" y="4424362"/>
            <a:ext cx="74295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0657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6058" y="2249486"/>
            <a:ext cx="3658792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1" y="2249486"/>
            <a:ext cx="3656408" cy="3541714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605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619127"/>
            <a:ext cx="7429500" cy="14779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78902" y="2249486"/>
            <a:ext cx="3435949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6058" y="3073398"/>
            <a:ext cx="3658793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1992" y="2249485"/>
            <a:ext cx="3433565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3073398"/>
            <a:ext cx="3656408" cy="2717801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00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3205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113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0029" y="609601"/>
            <a:ext cx="2892028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150" y="592666"/>
            <a:ext cx="4418407" cy="5198534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0029" y="2249486"/>
            <a:ext cx="2892028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567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61" y="609600"/>
            <a:ext cx="3753962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32866" y="609600"/>
            <a:ext cx="3452693" cy="5181602"/>
          </a:xfrm>
          <a:prstGeom prst="round2DiagRect">
            <a:avLst>
              <a:gd name="adj1" fmla="val 6074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9" y="2249486"/>
            <a:ext cx="3753964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73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4304665"/>
            <a:ext cx="7434266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56058" y="606426"/>
            <a:ext cx="7434266" cy="3299778"/>
          </a:xfrm>
          <a:prstGeom prst="round2DiagRect">
            <a:avLst>
              <a:gd name="adj1" fmla="val 5101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4" y="5124020"/>
            <a:ext cx="7433144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61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93" y="609600"/>
            <a:ext cx="7429466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419600"/>
            <a:ext cx="7428344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20104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365557"/>
            <a:ext cx="6564224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58" y="4309919"/>
            <a:ext cx="74295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696579" y="718458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817473" y="276497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638421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058" y="2134042"/>
            <a:ext cx="74295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6023" y="4657655"/>
            <a:ext cx="7428379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9450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856060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856058" y="2674463"/>
            <a:ext cx="2397674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856059" y="3360263"/>
            <a:ext cx="2396432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86075" y="2677635"/>
            <a:ext cx="238828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86075" y="3363435"/>
            <a:ext cx="238895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332" y="2674463"/>
            <a:ext cx="2396226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89332" y="3360263"/>
            <a:ext cx="2396226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445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856059" y="609600"/>
            <a:ext cx="7429499" cy="190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856060" y="4404596"/>
            <a:ext cx="239643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856060" y="2666998"/>
            <a:ext cx="239643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856060" y="4980859"/>
            <a:ext cx="239643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66790" y="4404596"/>
            <a:ext cx="24003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66790" y="2666998"/>
            <a:ext cx="2399205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65695" y="4980857"/>
            <a:ext cx="24003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89426" y="4404595"/>
            <a:ext cx="2393056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89332" y="2666998"/>
            <a:ext cx="2396227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1800" dirty="0"/>
            </a:lvl1pPr>
          </a:lstStyle>
          <a:p>
            <a:pPr marL="0" lvl="0" indent="0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89332" y="4980855"/>
            <a:ext cx="2396226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3312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12499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1" y="609600"/>
            <a:ext cx="1503758" cy="518160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6057" y="609600"/>
            <a:ext cx="5811443" cy="51816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927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9041774" cy="6858001"/>
            <a:chOff x="-14288" y="0"/>
            <a:chExt cx="9041774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8352798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6060" y="618518"/>
            <a:ext cx="7429499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6060" y="2249487"/>
            <a:ext cx="74294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592691" y="5883277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56059" y="5883276"/>
            <a:ext cx="46794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07241" y="5883275"/>
            <a:ext cx="5783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57071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dirty="0"/>
              <a:t>Unit IV – </a:t>
            </a:r>
            <a:r>
              <a:rPr lang="en-IN" dirty="0"/>
              <a:t>Lecture </a:t>
            </a:r>
            <a:r>
              <a:rPr lang="en-IN" dirty="0" smtClean="0"/>
              <a:t>3</a:t>
            </a:r>
            <a:br>
              <a:rPr lang="en-IN" dirty="0" smtClean="0"/>
            </a:br>
            <a:r>
              <a:rPr lang="en-IN" dirty="0"/>
              <a:t>Annuities – Concept, Types, and </a:t>
            </a:r>
            <a:r>
              <a:rPr lang="en-IN" dirty="0" smtClean="0"/>
              <a:t>Applications</a:t>
            </a:r>
            <a:endParaRPr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857251" y="2235199"/>
            <a:ext cx="7429499" cy="3541714"/>
          </a:xfrm>
        </p:spPr>
        <p:txBody>
          <a:bodyPr/>
          <a:lstStyle/>
          <a:p>
            <a:pPr marL="0" indent="0" algn="ctr">
              <a:buNone/>
            </a:pPr>
            <a:r>
              <a:rPr dirty="0">
                <a:solidFill>
                  <a:schemeClr val="bg1"/>
                </a:solidFill>
              </a:rPr>
              <a:t>Course: Financial Management (24CSB221T</a:t>
            </a:r>
            <a:r>
              <a:rPr dirty="0" smtClean="0">
                <a:solidFill>
                  <a:schemeClr val="bg1"/>
                </a:solidFill>
              </a:rPr>
              <a:t>)</a:t>
            </a:r>
            <a:endParaRPr lang="en-IN" dirty="0" smtClean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IN" dirty="0" smtClean="0">
                <a:solidFill>
                  <a:schemeClr val="bg1"/>
                </a:solidFill>
              </a:rPr>
              <a:t>Unit IV: Time Value of Money</a:t>
            </a:r>
            <a:endParaRPr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dirty="0" smtClean="0">
                <a:solidFill>
                  <a:schemeClr val="bg1"/>
                </a:solidFill>
              </a:rPr>
              <a:t>B.Tech</a:t>
            </a:r>
            <a:r>
              <a:rPr lang="en-IN" dirty="0" smtClean="0">
                <a:solidFill>
                  <a:schemeClr val="bg1"/>
                </a:solidFill>
              </a:rPr>
              <a:t>.</a:t>
            </a:r>
            <a:r>
              <a:rPr dirty="0" smtClean="0">
                <a:solidFill>
                  <a:schemeClr val="bg1"/>
                </a:solidFill>
              </a:rPr>
              <a:t> </a:t>
            </a:r>
            <a:r>
              <a:rPr dirty="0">
                <a:solidFill>
                  <a:schemeClr val="bg1"/>
                </a:solidFill>
              </a:rPr>
              <a:t>CSBS – Semester </a:t>
            </a:r>
            <a:r>
              <a:rPr dirty="0" smtClean="0">
                <a:solidFill>
                  <a:schemeClr val="bg1"/>
                </a:solidFill>
              </a:rPr>
              <a:t>IV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6" name="Title 1"/>
          <p:cNvSpPr txBox="1">
            <a:spLocks/>
          </p:cNvSpPr>
          <p:nvPr/>
        </p:nvSpPr>
        <p:spPr>
          <a:xfrm>
            <a:off x="2591150" y="4121269"/>
            <a:ext cx="3961701" cy="1320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en-US" dirty="0" smtClean="0">
                <a:solidFill>
                  <a:schemeClr val="bg1"/>
                </a:solidFill>
              </a:rPr>
              <a:t>Dr</a:t>
            </a:r>
            <a:r>
              <a:rPr lang="en-US" dirty="0">
                <a:solidFill>
                  <a:schemeClr val="bg1"/>
                </a:solidFill>
              </a:rPr>
              <a:t>. Darshit SHAH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CSE, </a:t>
            </a:r>
            <a:r>
              <a:rPr lang="en-US" dirty="0" err="1">
                <a:solidFill>
                  <a:schemeClr val="bg1"/>
                </a:solidFill>
              </a:rPr>
              <a:t>SoT</a:t>
            </a:r>
            <a:r>
              <a:rPr lang="en-US" dirty="0">
                <a:solidFill>
                  <a:schemeClr val="bg1"/>
                </a:solidFill>
              </a:rPr>
              <a:t>, PDEU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Lecture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Understand the concept of annuities</a:t>
            </a:r>
          </a:p>
          <a:p>
            <a:r>
              <a:rPr dirty="0"/>
              <a:t>Differentiate between ordinary annuity and annuity due</a:t>
            </a:r>
          </a:p>
          <a:p>
            <a:r>
              <a:rPr dirty="0"/>
              <a:t>Compute Future Value and Present Value of annuities</a:t>
            </a:r>
          </a:p>
          <a:p>
            <a:r>
              <a:rPr dirty="0"/>
              <a:t>Understand real-life applications in life insurance</a:t>
            </a:r>
          </a:p>
          <a:p>
            <a:r>
              <a:rPr dirty="0"/>
              <a:t>Use Excel functions for annuity calculations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What is an Annuity?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An annuity is a series of equal cash flows occurring at regular intervals.</a:t>
            </a:r>
          </a:p>
          <a:p>
            <a:r>
              <a:rPr dirty="0"/>
              <a:t>Examples:</a:t>
            </a:r>
          </a:p>
          <a:p>
            <a:pPr lvl="1"/>
            <a:r>
              <a:rPr dirty="0"/>
              <a:t>Insurance premiums</a:t>
            </a:r>
          </a:p>
          <a:p>
            <a:pPr lvl="1"/>
            <a:r>
              <a:rPr dirty="0"/>
              <a:t>Loan EMIs</a:t>
            </a:r>
          </a:p>
          <a:p>
            <a:pPr lvl="1"/>
            <a:r>
              <a:rPr dirty="0"/>
              <a:t>Retirement pensions</a:t>
            </a:r>
          </a:p>
          <a:p>
            <a:pPr lvl="1"/>
            <a:r>
              <a:rPr dirty="0"/>
              <a:t>Savings deposits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Examples of </a:t>
            </a:r>
            <a:r>
              <a:rPr dirty="0" smtClean="0"/>
              <a:t>Annuities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dirty="0" smtClean="0"/>
              <a:t>in </a:t>
            </a:r>
            <a:r>
              <a:rPr dirty="0"/>
              <a:t>Daily Life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Monthly insurance premiums</a:t>
            </a:r>
          </a:p>
          <a:p>
            <a:r>
              <a:rPr dirty="0"/>
              <a:t>Home loan EMIs</a:t>
            </a:r>
          </a:p>
          <a:p>
            <a:r>
              <a:rPr dirty="0"/>
              <a:t>Recurring bank deposits</a:t>
            </a:r>
          </a:p>
          <a:p>
            <a:r>
              <a:rPr dirty="0"/>
              <a:t>Retirement pension payments</a:t>
            </a:r>
          </a:p>
          <a:p>
            <a:r>
              <a:rPr dirty="0"/>
              <a:t>Lease payments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Characteristics of Annuities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Equal payments</a:t>
            </a:r>
          </a:p>
          <a:p>
            <a:r>
              <a:t>Regular intervals</a:t>
            </a:r>
          </a:p>
          <a:p>
            <a:r>
              <a:t>Fixed time period</a:t>
            </a:r>
          </a:p>
          <a:p>
            <a:r>
              <a:t>Constant interest rate assumption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Annuities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Ordinary Annuity – payments at end of each period</a:t>
            </a:r>
          </a:p>
          <a:p>
            <a:r>
              <a:t>2. Annuity Due – payments at beginning of each period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Ordinary Annuity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Payments occur at the end of each period.</a:t>
            </a:r>
          </a:p>
          <a:p>
            <a:r>
              <a:rPr dirty="0"/>
              <a:t>Examples:</a:t>
            </a:r>
          </a:p>
          <a:p>
            <a:pPr lvl="1"/>
            <a:r>
              <a:rPr dirty="0"/>
              <a:t>Loan EMIs</a:t>
            </a:r>
          </a:p>
          <a:p>
            <a:pPr lvl="1"/>
            <a:r>
              <a:rPr dirty="0"/>
              <a:t>Bond interest payments</a:t>
            </a:r>
          </a:p>
          <a:p>
            <a:pPr lvl="1"/>
            <a:r>
              <a:rPr dirty="0"/>
              <a:t>Most financial contracts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Annuity Due – Concept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Payments occur at the beginning of each period.</a:t>
            </a:r>
          </a:p>
          <a:p>
            <a:r>
              <a:rPr dirty="0"/>
              <a:t>Examples:</a:t>
            </a:r>
          </a:p>
          <a:p>
            <a:pPr lvl="1"/>
            <a:r>
              <a:rPr dirty="0"/>
              <a:t>Rent payments</a:t>
            </a:r>
          </a:p>
          <a:p>
            <a:pPr lvl="1"/>
            <a:r>
              <a:rPr dirty="0"/>
              <a:t>Insurance premiums</a:t>
            </a:r>
          </a:p>
          <a:p>
            <a:pPr lvl="1"/>
            <a:r>
              <a:rPr dirty="0"/>
              <a:t>Lease payments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Value of Ordinary Annuity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FV = A × ((1+r)^n − 1) / r</a:t>
            </a:r>
          </a:p>
          <a:p>
            <a:r>
              <a:rPr dirty="0"/>
              <a:t>Where:</a:t>
            </a:r>
          </a:p>
          <a:p>
            <a:pPr lvl="1"/>
            <a:r>
              <a:rPr dirty="0"/>
              <a:t>A = periodic payment</a:t>
            </a:r>
          </a:p>
          <a:p>
            <a:pPr lvl="1"/>
            <a:r>
              <a:rPr dirty="0"/>
              <a:t>r = interest rate</a:t>
            </a:r>
          </a:p>
          <a:p>
            <a:pPr lvl="1"/>
            <a:r>
              <a:rPr dirty="0"/>
              <a:t>n = number of periods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– FV of Ordinary Annuity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Deposit ₹5,000 every year</a:t>
            </a:r>
          </a:p>
          <a:p>
            <a:r>
              <a:t>Interest = 10%</a:t>
            </a:r>
          </a:p>
          <a:p>
            <a:r>
              <a:t>Period = 3 years</a:t>
            </a:r>
          </a:p>
          <a:p>
            <a:r>
              <a:t>FV = 5000 × ((1.10^3 − 1)/0.10)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 Value of Ordinary Annuity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 = A × (1 − (1+r)^(-n)) / r</a:t>
            </a:r>
          </a:p>
          <a:p>
            <a:r>
              <a:t>Used to determine today's value of future payments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Value of Annuity Due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Payments occur at beginning of each period.</a:t>
            </a:r>
          </a:p>
          <a:p>
            <a:r>
              <a:t>FV of annuity due = FV of ordinary annuity × (1+r)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Present Value of Annuity Due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PV of annuity due = PV of ordinary annuity × (1+r)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Application</a:t>
            </a:r>
            <a:r>
              <a:rPr lang="en-IN" dirty="0" smtClean="0"/>
              <a:t/>
            </a:r>
            <a:br>
              <a:rPr lang="en-IN" dirty="0" smtClean="0"/>
            </a:br>
            <a:r>
              <a:rPr dirty="0" smtClean="0"/>
              <a:t>Life </a:t>
            </a:r>
            <a:r>
              <a:rPr dirty="0"/>
              <a:t>Insurance Premiums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 life insurance, policyholders pay premiums periodically.</a:t>
            </a:r>
          </a:p>
          <a:p>
            <a:r>
              <a:t>These premiums behave like annuity payments.</a:t>
            </a:r>
          </a:p>
          <a:p>
            <a:r>
              <a:t>Insurance companies invest these premiums to generate returns.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Life Insurance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policyholder pays ₹20,000 annually for 20 years.</a:t>
            </a:r>
          </a:p>
          <a:p>
            <a:r>
              <a:t>Insurance company invests premium at 8%.</a:t>
            </a:r>
          </a:p>
          <a:p>
            <a:r>
              <a:t>Future value of these premiums determines maturity benefit.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Why Annuities are Important in Insurance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Helps determine premium structure</a:t>
            </a:r>
          </a:p>
          <a:p>
            <a:r>
              <a:t>Used in pension and retirement products</a:t>
            </a:r>
          </a:p>
          <a:p>
            <a:r>
              <a:t>Used to calculate policy maturity value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Retirement Annuity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Individual invests ₹50,000 every year for retirement.</a:t>
            </a:r>
          </a:p>
          <a:p>
            <a:r>
              <a:t>After 25 years, the accumulated value becomes retirement corpus.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 of Annuities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Regular savings discipline</a:t>
            </a:r>
          </a:p>
          <a:p>
            <a:r>
              <a:t>Predictable future income</a:t>
            </a:r>
          </a:p>
          <a:p>
            <a:r>
              <a:t>Useful for retirement planning</a:t>
            </a:r>
          </a:p>
          <a:p>
            <a:r>
              <a:t>Widely used in financial contracts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of Annuities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Assumes constant interest rate</a:t>
            </a:r>
          </a:p>
          <a:p>
            <a:r>
              <a:t>Inflation may reduce real value</a:t>
            </a:r>
          </a:p>
          <a:p>
            <a:r>
              <a:t>Long commitment period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Function – FV for Annuity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Excel function:</a:t>
            </a:r>
          </a:p>
          <a:p>
            <a:pPr lvl="1"/>
            <a:r>
              <a:rPr dirty="0"/>
              <a:t>=FV(rate, </a:t>
            </a:r>
            <a:r>
              <a:rPr dirty="0" err="1"/>
              <a:t>nper</a:t>
            </a:r>
            <a:r>
              <a:rPr dirty="0"/>
              <a:t>, </a:t>
            </a:r>
            <a:r>
              <a:rPr dirty="0" err="1"/>
              <a:t>pmt</a:t>
            </a:r>
            <a:r>
              <a:rPr dirty="0"/>
              <a:t>, </a:t>
            </a:r>
            <a:r>
              <a:rPr dirty="0" err="1"/>
              <a:t>pv</a:t>
            </a:r>
            <a:r>
              <a:rPr dirty="0"/>
              <a:t>)</a:t>
            </a:r>
          </a:p>
          <a:p>
            <a:r>
              <a:rPr dirty="0"/>
              <a:t>Example:</a:t>
            </a:r>
          </a:p>
          <a:p>
            <a:pPr lvl="1"/>
            <a:r>
              <a:rPr dirty="0"/>
              <a:t>=FV(10%,5,-5000,0)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Excel Function – PV for Annuity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Excel function:</a:t>
            </a:r>
          </a:p>
          <a:p>
            <a:pPr lvl="1"/>
            <a:r>
              <a:rPr dirty="0"/>
              <a:t>=PV(rate, </a:t>
            </a:r>
            <a:r>
              <a:rPr dirty="0" err="1"/>
              <a:t>nper</a:t>
            </a:r>
            <a:r>
              <a:rPr dirty="0"/>
              <a:t>, </a:t>
            </a:r>
            <a:r>
              <a:rPr dirty="0" err="1"/>
              <a:t>pmt</a:t>
            </a:r>
            <a:r>
              <a:rPr dirty="0"/>
              <a:t>, </a:t>
            </a:r>
            <a:r>
              <a:rPr dirty="0" err="1"/>
              <a:t>fv</a:t>
            </a:r>
            <a:r>
              <a:rPr dirty="0"/>
              <a:t>)</a:t>
            </a:r>
          </a:p>
          <a:p>
            <a:r>
              <a:rPr dirty="0"/>
              <a:t>Example:</a:t>
            </a:r>
          </a:p>
          <a:p>
            <a:pPr lvl="1"/>
            <a:r>
              <a:rPr dirty="0"/>
              <a:t>=PV(10%,5,-5000,0)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t>Excel Functions Useful for Annuities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PMT() – calculates loan payment</a:t>
            </a:r>
          </a:p>
          <a:p>
            <a:r>
              <a:t>NPER() – calculates number of periods</a:t>
            </a:r>
          </a:p>
          <a:p>
            <a:r>
              <a:t>RATE() – calculates interest rate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Exercise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person deposits ₹10,000 every year for 10 years.</a:t>
            </a:r>
          </a:p>
          <a:p>
            <a:r>
              <a:t>Interest rate = 8%</a:t>
            </a:r>
          </a:p>
          <a:p>
            <a:r>
              <a:t>Calculate FV of annuity using formula and Excel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Annuities represent regular financial payments</a:t>
            </a:r>
          </a:p>
          <a:p>
            <a:r>
              <a:t>Widely used in insurance, loans, and pensions</a:t>
            </a:r>
          </a:p>
          <a:p>
            <a:r>
              <a:t>Excel simplifies annuity calculations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593801191DF4D984FE1A4D4B0D7E7" ma:contentTypeVersion="3" ma:contentTypeDescription="Create a new document." ma:contentTypeScope="" ma:versionID="e39092a7b4b27737e8a209021adc68b3">
  <xsd:schema xmlns:xsd="http://www.w3.org/2001/XMLSchema" xmlns:xs="http://www.w3.org/2001/XMLSchema" xmlns:p="http://schemas.microsoft.com/office/2006/metadata/properties" xmlns:ns2="a97a8ad6-67d7-4123-ae64-ac343da58d72" targetNamespace="http://schemas.microsoft.com/office/2006/metadata/properties" ma:root="true" ma:fieldsID="5b71e39e27f0c01b1326b4cb4b655a4e" ns2:_="">
    <xsd:import namespace="a97a8ad6-67d7-4123-ae64-ac343da58d7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7a8ad6-67d7-4123-ae64-ac343da58d7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318F69F-E142-4B19-80A8-741D8C7322AD}"/>
</file>

<file path=customXml/itemProps2.xml><?xml version="1.0" encoding="utf-8"?>
<ds:datastoreItem xmlns:ds="http://schemas.openxmlformats.org/officeDocument/2006/customXml" ds:itemID="{58F0B5DB-DBF4-4805-A675-B73FD222391B}"/>
</file>

<file path=customXml/itemProps3.xml><?xml version="1.0" encoding="utf-8"?>
<ds:datastoreItem xmlns:ds="http://schemas.openxmlformats.org/officeDocument/2006/customXml" ds:itemID="{6E3EAB76-C0EA-4726-8002-A053F5B7AE77}"/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29</TotalTime>
  <Words>588</Words>
  <Application>Microsoft Office PowerPoint</Application>
  <PresentationFormat>On-screen Show (4:3)</PresentationFormat>
  <Paragraphs>110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Bahnschrift</vt:lpstr>
      <vt:lpstr>Trebuchet MS</vt:lpstr>
      <vt:lpstr>Tw Cen MT</vt:lpstr>
      <vt:lpstr>Circuit</vt:lpstr>
      <vt:lpstr>Unit IV – Lecture 3 Annuities – Concept, Types, and Applications</vt:lpstr>
      <vt:lpstr>Lecture Objectives</vt:lpstr>
      <vt:lpstr>What is an Annuity?</vt:lpstr>
      <vt:lpstr>Examples of Annuities in Daily Life</vt:lpstr>
      <vt:lpstr>Key Characteristics of Annuities</vt:lpstr>
      <vt:lpstr>Types of Annuities</vt:lpstr>
      <vt:lpstr>Ordinary Annuity – Concept</vt:lpstr>
      <vt:lpstr>Annuity Due – Concept</vt:lpstr>
      <vt:lpstr>Future Value of Ordinary Annuity</vt:lpstr>
      <vt:lpstr>Example – FV of Ordinary Annuity</vt:lpstr>
      <vt:lpstr>Present Value of Ordinary Annuity</vt:lpstr>
      <vt:lpstr>Future Value of Annuity Due</vt:lpstr>
      <vt:lpstr>Present Value of Annuity Due</vt:lpstr>
      <vt:lpstr>Application Life Insurance Premiums</vt:lpstr>
      <vt:lpstr>Life Insurance Example</vt:lpstr>
      <vt:lpstr>Why Annuities are Important in Insurance</vt:lpstr>
      <vt:lpstr>Retirement Annuity Example</vt:lpstr>
      <vt:lpstr>Advantages of Annuities</vt:lpstr>
      <vt:lpstr>Limitations of Annuities</vt:lpstr>
      <vt:lpstr>Excel Function – FV for Annuity</vt:lpstr>
      <vt:lpstr>Excel Function – PV for Annuity</vt:lpstr>
      <vt:lpstr>Excel Functions Useful for Annuities</vt:lpstr>
      <vt:lpstr>Exercise</vt:lpstr>
      <vt:lpstr>Key Takeaways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– Time Value of Money | Lecture 3</dc:title>
  <dc:subject/>
  <dc:creator/>
  <cp:keywords/>
  <dc:description>generated using python-pptx</dc:description>
  <cp:lastModifiedBy>Darshit Shah</cp:lastModifiedBy>
  <cp:revision>4</cp:revision>
  <dcterms:created xsi:type="dcterms:W3CDTF">2013-01-27T09:14:16Z</dcterms:created>
  <dcterms:modified xsi:type="dcterms:W3CDTF">2026-04-05T17:22:37Z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0x010100157593801191DF4D984FE1A4D4B0D7E7</vt:lpwstr>
  </property>
</Properties>
</file>
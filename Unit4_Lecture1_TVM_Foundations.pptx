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4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9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8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4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2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4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6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1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4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849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50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02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39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94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6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88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bg1"/>
                </a:solidFill>
              </a:rPr>
              <a:t>Unit IV – </a:t>
            </a:r>
            <a:r>
              <a:rPr lang="en-IN" b="1" dirty="0">
                <a:solidFill>
                  <a:schemeClr val="bg1"/>
                </a:solidFill>
              </a:rPr>
              <a:t>Lecture </a:t>
            </a:r>
            <a:r>
              <a:rPr lang="en-IN" b="1" dirty="0" smtClean="0">
                <a:solidFill>
                  <a:schemeClr val="bg1"/>
                </a:solidFill>
              </a:rPr>
              <a:t>1</a:t>
            </a:r>
            <a:br>
              <a:rPr lang="en-IN" b="1" dirty="0" smtClean="0">
                <a:solidFill>
                  <a:schemeClr val="bg1"/>
                </a:solidFill>
              </a:rPr>
            </a:br>
            <a:r>
              <a:rPr b="1" dirty="0" smtClean="0">
                <a:solidFill>
                  <a:schemeClr val="bg1"/>
                </a:solidFill>
              </a:rPr>
              <a:t>Time </a:t>
            </a:r>
            <a:r>
              <a:rPr b="1" dirty="0">
                <a:solidFill>
                  <a:schemeClr val="bg1"/>
                </a:solidFill>
              </a:rPr>
              <a:t>Value of </a:t>
            </a:r>
            <a:r>
              <a:rPr b="1" dirty="0" smtClean="0">
                <a:solidFill>
                  <a:schemeClr val="bg1"/>
                </a:solidFill>
              </a:rPr>
              <a:t>Money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2249487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Course: Financial Management (24CSB221T</a:t>
            </a:r>
            <a:r>
              <a:rPr dirty="0" smtClean="0">
                <a:solidFill>
                  <a:schemeClr val="bg1"/>
                </a:solidFill>
              </a:rPr>
              <a:t>)</a:t>
            </a:r>
            <a:endParaRPr lang="en-IN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bg1"/>
                </a:solidFill>
              </a:rPr>
              <a:t>Unit IV: Time Value of Money</a:t>
            </a:r>
            <a:endParaRPr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dirty="0" smtClean="0">
                <a:solidFill>
                  <a:schemeClr val="bg1"/>
                </a:solidFill>
              </a:rPr>
              <a:t>B.Tech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CSBS – Semester </a:t>
            </a:r>
            <a:r>
              <a:rPr dirty="0" smtClean="0">
                <a:solidFill>
                  <a:schemeClr val="bg1"/>
                </a:solidFill>
              </a:rPr>
              <a:t>IV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91150" y="4135557"/>
            <a:ext cx="3961701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Dr</a:t>
            </a:r>
            <a:r>
              <a:rPr lang="en-US" dirty="0">
                <a:solidFill>
                  <a:schemeClr val="bg1"/>
                </a:solidFill>
              </a:rPr>
              <a:t>. Darshit SHAH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CSE, </a:t>
            </a:r>
            <a:r>
              <a:rPr lang="en-US" dirty="0" err="1">
                <a:solidFill>
                  <a:schemeClr val="bg1"/>
                </a:solidFill>
              </a:rPr>
              <a:t>SoT</a:t>
            </a:r>
            <a:r>
              <a:rPr lang="en-US" dirty="0">
                <a:solidFill>
                  <a:schemeClr val="bg1"/>
                </a:solidFill>
              </a:rPr>
              <a:t>, PDEU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Primary reference: </a:t>
            </a:r>
            <a:r>
              <a:rPr dirty="0" err="1"/>
              <a:t>Prasanna</a:t>
            </a:r>
            <a:r>
              <a:rPr dirty="0"/>
              <a:t> Chandra – Financial Management</a:t>
            </a:r>
          </a:p>
          <a:p>
            <a:r>
              <a:rPr dirty="0"/>
              <a:t>Chapter 6: Time Value of Money</a:t>
            </a:r>
          </a:p>
          <a:p>
            <a:r>
              <a:rPr dirty="0"/>
              <a:t>Pages </a:t>
            </a:r>
            <a:r>
              <a:rPr dirty="0" smtClean="0"/>
              <a:t>266–317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Bahnschrift" panose="020B0502040204020203" pitchFamily="34" charset="0"/>
              </a:rP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951288"/>
          </a:xfrm>
        </p:spPr>
        <p:txBody>
          <a:bodyPr>
            <a:noAutofit/>
          </a:bodyPr>
          <a:lstStyle/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why money has time value</a:t>
            </a:r>
          </a:p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economic logic behind TVM</a:t>
            </a:r>
          </a:p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basic terminology: PV, FV, interest rate, period</a:t>
            </a:r>
          </a:p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timeline representation</a:t>
            </a:r>
          </a:p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Learn approximation rules (72, 69, 114)</a:t>
            </a:r>
          </a:p>
          <a:p>
            <a:r>
              <a:rPr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how Excel helps in TVM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Time Value of Money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 rupee today is more valuable than a rupee in the future.</a:t>
            </a:r>
          </a:p>
          <a:p>
            <a:r>
              <a:rPr dirty="0"/>
              <a:t>Reasons:</a:t>
            </a:r>
          </a:p>
          <a:p>
            <a:pPr lvl="1"/>
            <a:r>
              <a:rPr dirty="0"/>
              <a:t>Investment opportunities</a:t>
            </a:r>
          </a:p>
          <a:p>
            <a:pPr lvl="1"/>
            <a:r>
              <a:rPr dirty="0"/>
              <a:t>Inflation reduces purchasing power</a:t>
            </a:r>
          </a:p>
          <a:p>
            <a:pPr lvl="1"/>
            <a:r>
              <a:rPr dirty="0" smtClean="0"/>
              <a:t>Risk </a:t>
            </a:r>
            <a:r>
              <a:rPr dirty="0"/>
              <a:t>and uncertainty of future cash flows</a:t>
            </a:r>
          </a:p>
          <a:p>
            <a:pPr lvl="1"/>
            <a:r>
              <a:rPr dirty="0"/>
              <a:t>Preference for present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Time Value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Time Value of Money (TVM) refers to the principle that the value of money changes over time.</a:t>
            </a:r>
          </a:p>
          <a:p>
            <a:r>
              <a:rPr dirty="0"/>
              <a:t>Money can earn interest when invested.</a:t>
            </a:r>
          </a:p>
          <a:p>
            <a:r>
              <a:rPr dirty="0"/>
              <a:t>Therefore, money available today can grow to a larger amount in the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Simple Economic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Suppose you have ₹10,000 today.</a:t>
            </a:r>
          </a:p>
          <a:p>
            <a:r>
              <a:t>You invest it at 10% interest.</a:t>
            </a:r>
          </a:p>
          <a:p>
            <a:r>
              <a:t>After 1 year → ₹11,000</a:t>
            </a:r>
          </a:p>
          <a:p>
            <a:r>
              <a:t>After 2 years → ₹12,100</a:t>
            </a:r>
          </a:p>
          <a:p>
            <a:r>
              <a:t>Money grows because of interest.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(FV)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Future Value represents how much money today will grow to in the future.</a:t>
            </a:r>
          </a:p>
          <a:p>
            <a:r>
              <a:rPr dirty="0"/>
              <a:t>Formula:</a:t>
            </a:r>
          </a:p>
          <a:p>
            <a:pPr lvl="1"/>
            <a:r>
              <a:rPr dirty="0"/>
              <a:t>FV = PV (1 + r)^n</a:t>
            </a:r>
          </a:p>
          <a:p>
            <a:pPr lvl="1"/>
            <a:r>
              <a:rPr dirty="0"/>
              <a:t>Where:</a:t>
            </a:r>
          </a:p>
          <a:p>
            <a:pPr lvl="2"/>
            <a:r>
              <a:rPr dirty="0"/>
              <a:t>PV = Present Value</a:t>
            </a:r>
          </a:p>
          <a:p>
            <a:pPr lvl="2"/>
            <a:r>
              <a:rPr dirty="0"/>
              <a:t>r = interest rate</a:t>
            </a:r>
          </a:p>
          <a:p>
            <a:pPr lvl="2"/>
            <a:r>
              <a:rPr dirty="0"/>
              <a:t>n = number of periods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Future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investors estimate growth of investments</a:t>
            </a:r>
          </a:p>
          <a:p>
            <a:r>
              <a:t>Useful in savings planning</a:t>
            </a:r>
          </a:p>
          <a:p>
            <a:r>
              <a:t>Helps estimate value of retirement funds</a:t>
            </a:r>
          </a:p>
          <a:p>
            <a:r>
              <a:t>Used in financial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Future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constant interest rate</a:t>
            </a:r>
          </a:p>
          <a:p>
            <a:r>
              <a:t>Ignores unexpected economic changes</a:t>
            </a:r>
          </a:p>
          <a:p>
            <a:r>
              <a:t>Does not capture uncertainty perfectly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Value (PV)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Present Value is the current value of a future amount of money.</a:t>
            </a:r>
          </a:p>
          <a:p>
            <a:r>
              <a:rPr dirty="0"/>
              <a:t>It answers the question:</a:t>
            </a:r>
          </a:p>
          <a:p>
            <a:pPr lvl="1"/>
            <a:r>
              <a:rPr dirty="0"/>
              <a:t>What is the value today of money to be received in the future?</a:t>
            </a:r>
          </a:p>
          <a:p>
            <a:r>
              <a:rPr dirty="0"/>
              <a:t>Formula:</a:t>
            </a:r>
          </a:p>
          <a:p>
            <a:pPr lvl="1"/>
            <a:r>
              <a:rPr dirty="0"/>
              <a:t>PV = FV / (1 + r)^n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capital budgeting decisions</a:t>
            </a:r>
          </a:p>
          <a:p>
            <a:r>
              <a:t>Used in investment analysis</a:t>
            </a:r>
          </a:p>
          <a:p>
            <a:r>
              <a:t>Used in bond valuation</a:t>
            </a:r>
          </a:p>
          <a:p>
            <a:r>
              <a:t>Used in loan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depends on correct interest rate</a:t>
            </a:r>
          </a:p>
          <a:p>
            <a:r>
              <a:t>Future cash flows may be uncertain</a:t>
            </a:r>
          </a:p>
          <a:p>
            <a:r>
              <a:t>Assumes rational financial markets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Compounding means interest is earned on both principal and accumulated interest.</a:t>
            </a:r>
          </a:p>
          <a:p>
            <a:r>
              <a:t>Example:</a:t>
            </a:r>
          </a:p>
          <a:p>
            <a:r>
              <a:t>Interest earns interest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Accelerates growth of investments</a:t>
            </a:r>
          </a:p>
          <a:p>
            <a:r>
              <a:t>Encourages long-term investing</a:t>
            </a:r>
          </a:p>
          <a:p>
            <a:r>
              <a:t>Powerful tool for wealth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depends on stable interest rates</a:t>
            </a:r>
          </a:p>
          <a:p>
            <a:r>
              <a:t>May be affected by inflation and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Approximation </a:t>
            </a:r>
            <a:r>
              <a:rPr dirty="0" smtClean="0"/>
              <a:t>Rule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dirty="0" smtClean="0"/>
              <a:t>Rule </a:t>
            </a:r>
            <a:r>
              <a:rPr dirty="0"/>
              <a:t>of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estimate how long it takes to double an investment.</a:t>
            </a:r>
          </a:p>
          <a:p>
            <a:r>
              <a:t>Years to double ≈ 72 / Interest rate</a:t>
            </a:r>
          </a:p>
          <a:p>
            <a:r>
              <a:t>Example:</a:t>
            </a:r>
          </a:p>
          <a:p>
            <a:r>
              <a:t>At 12% → 72/12 = 6 years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Approximation </a:t>
            </a:r>
            <a:r>
              <a:rPr dirty="0" smtClean="0"/>
              <a:t>Rule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dirty="0" smtClean="0"/>
              <a:t>Rule </a:t>
            </a:r>
            <a:r>
              <a:rPr dirty="0"/>
              <a:t>of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accurate rule for continuous compounding.</a:t>
            </a:r>
          </a:p>
          <a:p>
            <a:r>
              <a:t>Years to double ≈ 0.35 + (69 / Interest rate)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Approximation </a:t>
            </a:r>
            <a:r>
              <a:rPr dirty="0" smtClean="0"/>
              <a:t>Rule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dirty="0" smtClean="0"/>
              <a:t>Rule </a:t>
            </a:r>
            <a:r>
              <a:rPr dirty="0"/>
              <a:t>of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estimate time required to triple an investment.</a:t>
            </a:r>
          </a:p>
          <a:p>
            <a:r>
              <a:t>Years ≈ 114 / Interest rate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</a:t>
            </a:r>
            <a:r>
              <a:rPr dirty="0" smtClean="0"/>
              <a:t>Excel </a:t>
            </a:r>
            <a:r>
              <a:rPr lang="en-IN" dirty="0" smtClean="0"/>
              <a:t>functions </a:t>
            </a:r>
            <a:r>
              <a:rPr dirty="0" smtClean="0"/>
              <a:t>in </a:t>
            </a:r>
            <a:r>
              <a:rPr dirty="0"/>
              <a:t>Financial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FV</a:t>
            </a:r>
            <a:r>
              <a:rPr dirty="0"/>
              <a:t>()</a:t>
            </a:r>
          </a:p>
          <a:p>
            <a:r>
              <a:rPr dirty="0"/>
              <a:t>PV()</a:t>
            </a:r>
          </a:p>
          <a:p>
            <a:r>
              <a:rPr dirty="0"/>
              <a:t>NPER()</a:t>
            </a:r>
          </a:p>
          <a:p>
            <a:r>
              <a:rPr dirty="0"/>
              <a:t>RATE()</a:t>
            </a:r>
          </a:p>
          <a:p>
            <a:r>
              <a:rPr dirty="0"/>
              <a:t>EFFECT()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Example – Future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Formula in Excel:</a:t>
            </a:r>
          </a:p>
          <a:p>
            <a:pPr lvl="1"/>
            <a:r>
              <a:rPr dirty="0"/>
              <a:t>=FV(rate, </a:t>
            </a:r>
            <a:r>
              <a:rPr dirty="0" err="1"/>
              <a:t>nper</a:t>
            </a:r>
            <a:r>
              <a:rPr dirty="0"/>
              <a:t>, </a:t>
            </a:r>
            <a:r>
              <a:rPr dirty="0" err="1"/>
              <a:t>pmt</a:t>
            </a:r>
            <a:r>
              <a:rPr dirty="0"/>
              <a:t>, </a:t>
            </a:r>
            <a:r>
              <a:rPr dirty="0" err="1"/>
              <a:t>pv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=FV(10%,3,0,-10000)</a:t>
            </a:r>
          </a:p>
          <a:p>
            <a:r>
              <a:rPr dirty="0"/>
              <a:t>Calculates FV of ₹10,000 invested for 3 years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Example – 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 in Excel:</a:t>
            </a:r>
          </a:p>
          <a:p>
            <a:r>
              <a:t>=PV(rate, nper, pmt, fv)</a:t>
            </a:r>
          </a:p>
          <a:p>
            <a:r>
              <a:t>Example:</a:t>
            </a:r>
          </a:p>
          <a:p>
            <a:r>
              <a:t>=PV(10%,3,0,13310)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Time Value of </a:t>
            </a:r>
            <a:r>
              <a:rPr lang="en-IN" dirty="0" smtClean="0"/>
              <a:t>Money</a:t>
            </a:r>
            <a:br>
              <a:rPr lang="en-IN" dirty="0" smtClean="0"/>
            </a:br>
            <a:r>
              <a:rPr dirty="0" smtClean="0"/>
              <a:t>Applications</a:t>
            </a:r>
            <a:r>
              <a:rPr lang="en-IN" dirty="0" smtClean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budgeting</a:t>
            </a:r>
          </a:p>
          <a:p>
            <a:r>
              <a:t>Loan evaluation</a:t>
            </a:r>
          </a:p>
          <a:p>
            <a:r>
              <a:t>Investment planning</a:t>
            </a:r>
          </a:p>
          <a:p>
            <a:r>
              <a:t>Bond valuation</a:t>
            </a:r>
          </a:p>
          <a:p>
            <a:r>
              <a:t>Retirement planning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Value of Money is fundamental to finance</a:t>
            </a:r>
          </a:p>
          <a:p>
            <a:r>
              <a:t>Future Value and Present Value are core tools</a:t>
            </a:r>
          </a:p>
          <a:p>
            <a:r>
              <a:t>Compounding drives growth of money</a:t>
            </a:r>
          </a:p>
          <a:p>
            <a:r>
              <a:t>Excel helps perform financial calculations efficiently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2AE603-B135-482F-B10F-36C0FE752617}"/>
</file>

<file path=customXml/itemProps2.xml><?xml version="1.0" encoding="utf-8"?>
<ds:datastoreItem xmlns:ds="http://schemas.openxmlformats.org/officeDocument/2006/customXml" ds:itemID="{6938249D-A072-43DC-81C4-5DE7B5D299BB}"/>
</file>

<file path=customXml/itemProps3.xml><?xml version="1.0" encoding="utf-8"?>
<ds:datastoreItem xmlns:ds="http://schemas.openxmlformats.org/officeDocument/2006/customXml" ds:itemID="{07A51253-93B0-4940-9AA0-BDB9596502FE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</TotalTime>
  <Words>643</Words>
  <Application>Microsoft Office PowerPoint</Application>
  <PresentationFormat>On-screen Show (4:3)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Bahnschrift</vt:lpstr>
      <vt:lpstr>Trebuchet MS</vt:lpstr>
      <vt:lpstr>Tw Cen MT</vt:lpstr>
      <vt:lpstr>Circuit</vt:lpstr>
      <vt:lpstr>Unit IV – Lecture 1 Time Value of Money</vt:lpstr>
      <vt:lpstr>Reference</vt:lpstr>
      <vt:lpstr>Lecture Objectives</vt:lpstr>
      <vt:lpstr>Why Time Value of Money Exists</vt:lpstr>
      <vt:lpstr>Concept of Time Value of Money</vt:lpstr>
      <vt:lpstr>Example – Simple Economic Logic</vt:lpstr>
      <vt:lpstr>Future Value (FV) Concept</vt:lpstr>
      <vt:lpstr>Importance of Future Value</vt:lpstr>
      <vt:lpstr>Limitations of Future Value</vt:lpstr>
      <vt:lpstr>Present Value (PV) Concept</vt:lpstr>
      <vt:lpstr>Importance of Present Value</vt:lpstr>
      <vt:lpstr>Limitations of Present Value</vt:lpstr>
      <vt:lpstr>Compounding Concept</vt:lpstr>
      <vt:lpstr>Advantages of Compounding</vt:lpstr>
      <vt:lpstr>Limitations of Compounding</vt:lpstr>
      <vt:lpstr>Approximation Rule Rule of 72</vt:lpstr>
      <vt:lpstr>Approximation Rule Rule of 69</vt:lpstr>
      <vt:lpstr>Approximation Rule Rule of 114</vt:lpstr>
      <vt:lpstr>Key Excel functions in Financial Calculations</vt:lpstr>
      <vt:lpstr>Excel Example – Future Value</vt:lpstr>
      <vt:lpstr>Excel Example – Present Value</vt:lpstr>
      <vt:lpstr>Time Value of Money Applications: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Time Value of Money | Lecture 1</dc:title>
  <dc:subject/>
  <dc:creator/>
  <cp:keywords/>
  <dc:description>generated using python-pptx</dc:description>
  <cp:lastModifiedBy>Darshit Shah</cp:lastModifiedBy>
  <cp:revision>5</cp:revision>
  <dcterms:created xsi:type="dcterms:W3CDTF">2013-01-27T09:14:16Z</dcterms:created>
  <dcterms:modified xsi:type="dcterms:W3CDTF">2026-04-05T16:29:27Z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
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0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4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70" r:id="rId34"/>
    <p:sldId id="271" r:id="rId35"/>
    <p:sldId id="272" r:id="rId36"/>
    <p:sldId id="273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39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ustomXml" Target="../customXml/item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ustomXml" Target="../customXml/item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896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2000"/>
            </a:lvl2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857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541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614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567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039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348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221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607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665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980807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7017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374667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2539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4396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738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424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Integrated Financial Statement Analysis &amp; DuPont Framework</a:t>
            </a:r>
            <a:endParaRPr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722818" y="4997478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</a:pPr>
            <a:r>
              <a:rPr lang="en-US" sz="36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By Dr. Darshit SHAH</a:t>
            </a:r>
          </a:p>
          <a:p>
            <a:pPr>
              <a:spcBef>
                <a:spcPct val="0"/>
              </a:spcBef>
            </a:pPr>
            <a:r>
              <a:rPr lang="en-US" sz="36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CSE, </a:t>
            </a:r>
            <a:r>
              <a:rPr lang="en-US" sz="3600" dirty="0" err="1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SoT</a:t>
            </a:r>
            <a:r>
              <a:rPr lang="en-US" sz="36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, PDEU</a:t>
            </a: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719137" y="2444751"/>
            <a:ext cx="7705726" cy="1968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dirty="0"/>
              <a:t>Course: Financial Management (24CSB221T)</a:t>
            </a:r>
            <a:endParaRPr lang="en-IN" sz="2800" dirty="0" smtClean="0"/>
          </a:p>
          <a:p>
            <a:r>
              <a:rPr sz="2800" dirty="0" smtClean="0"/>
              <a:t>Unit </a:t>
            </a:r>
            <a:r>
              <a:rPr sz="2800" dirty="0"/>
              <a:t>III – </a:t>
            </a:r>
            <a:r>
              <a:rPr lang="en-IN" sz="2800" dirty="0"/>
              <a:t>Understanding and Analysis of </a:t>
            </a:r>
            <a:r>
              <a:rPr lang="en-IN" sz="2800" dirty="0" smtClean="0"/>
              <a:t>Financial statements</a:t>
            </a:r>
          </a:p>
          <a:p>
            <a:r>
              <a:rPr lang="en-IN" sz="2800" dirty="0" smtClean="0"/>
              <a:t>B.Tech</a:t>
            </a:r>
            <a:r>
              <a:rPr lang="en-IN" sz="2800" dirty="0"/>
              <a:t>. (CSBS) – Semester IV</a:t>
            </a:r>
            <a:endParaRPr sz="28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73759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2160590"/>
            <a:ext cx="7105651" cy="3880773"/>
          </a:xfrm>
        </p:spPr>
        <p:txBody>
          <a:bodyPr>
            <a:normAutofit/>
          </a:bodyPr>
          <a:lstStyle/>
          <a:p>
            <a:r>
              <a:rPr dirty="0"/>
              <a:t>After completing this lecture students should be able to:</a:t>
            </a:r>
          </a:p>
          <a:p>
            <a:endParaRPr dirty="0"/>
          </a:p>
          <a:p>
            <a:r>
              <a:rPr dirty="0" smtClean="0"/>
              <a:t>Integrate </a:t>
            </a:r>
            <a:r>
              <a:rPr dirty="0"/>
              <a:t>different financial analysis techniques</a:t>
            </a:r>
          </a:p>
          <a:p>
            <a:r>
              <a:rPr dirty="0" smtClean="0"/>
              <a:t>Interpret </a:t>
            </a:r>
            <a:r>
              <a:rPr dirty="0"/>
              <a:t>relationships among financial ratios</a:t>
            </a:r>
          </a:p>
          <a:p>
            <a:r>
              <a:rPr dirty="0" smtClean="0"/>
              <a:t>Evaluate </a:t>
            </a:r>
            <a:r>
              <a:rPr dirty="0"/>
              <a:t>overall financial performance of a firm</a:t>
            </a:r>
          </a:p>
          <a:p>
            <a:r>
              <a:rPr dirty="0" smtClean="0"/>
              <a:t>Apply </a:t>
            </a:r>
            <a:r>
              <a:rPr dirty="0"/>
              <a:t>DuPont analysis to explain Return on Equity</a:t>
            </a:r>
          </a:p>
          <a:p>
            <a:r>
              <a:rPr dirty="0" smtClean="0"/>
              <a:t>Use </a:t>
            </a:r>
            <a:r>
              <a:rPr dirty="0"/>
              <a:t>financial analysis for managerial decision making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Reading Assignment – Prasanna Chandra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Prasanna</a:t>
            </a:r>
            <a:r>
              <a:rPr dirty="0"/>
              <a:t> Chandra (2019)</a:t>
            </a:r>
          </a:p>
          <a:p>
            <a:r>
              <a:rPr dirty="0"/>
              <a:t>Financial Management: Theory and Practice</a:t>
            </a:r>
          </a:p>
          <a:p>
            <a:r>
              <a:rPr dirty="0" smtClean="0"/>
              <a:t>Suggested </a:t>
            </a:r>
            <a:r>
              <a:rPr dirty="0"/>
              <a:t>Reading: Pages 190 – 205</a:t>
            </a:r>
          </a:p>
          <a:p>
            <a:endParaRPr dirty="0"/>
          </a:p>
          <a:p>
            <a:r>
              <a:rPr dirty="0"/>
              <a:t>Focus Areas:</a:t>
            </a:r>
          </a:p>
          <a:p>
            <a:r>
              <a:rPr dirty="0" smtClean="0"/>
              <a:t>Interpretation </a:t>
            </a:r>
            <a:r>
              <a:rPr dirty="0"/>
              <a:t>of ratios</a:t>
            </a:r>
          </a:p>
          <a:p>
            <a:r>
              <a:rPr dirty="0" smtClean="0"/>
              <a:t>Integrated </a:t>
            </a:r>
            <a:r>
              <a:rPr dirty="0"/>
              <a:t>financial analysis</a:t>
            </a:r>
          </a:p>
          <a:p>
            <a:r>
              <a:rPr dirty="0" smtClean="0"/>
              <a:t>Performance </a:t>
            </a:r>
            <a:r>
              <a:rPr dirty="0"/>
              <a:t>evaluation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Recap of Unit III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2160590"/>
            <a:ext cx="6877051" cy="3880773"/>
          </a:xfrm>
        </p:spPr>
        <p:txBody>
          <a:bodyPr>
            <a:noAutofit/>
          </a:bodyPr>
          <a:lstStyle/>
          <a:p>
            <a:r>
              <a:rPr dirty="0"/>
              <a:t>Financial statement analysis tools studied:</a:t>
            </a:r>
          </a:p>
          <a:p>
            <a:r>
              <a:rPr dirty="0" smtClean="0"/>
              <a:t>Comparative </a:t>
            </a:r>
            <a:r>
              <a:rPr dirty="0"/>
              <a:t>Statements</a:t>
            </a:r>
          </a:p>
          <a:p>
            <a:r>
              <a:rPr dirty="0" smtClean="0"/>
              <a:t>Common </a:t>
            </a:r>
            <a:r>
              <a:rPr dirty="0"/>
              <a:t>Size Statements</a:t>
            </a:r>
          </a:p>
          <a:p>
            <a:r>
              <a:rPr dirty="0" smtClean="0"/>
              <a:t>Trend </a:t>
            </a:r>
            <a:r>
              <a:rPr dirty="0"/>
              <a:t>Analysis</a:t>
            </a:r>
          </a:p>
          <a:p>
            <a:r>
              <a:rPr dirty="0" smtClean="0"/>
              <a:t>Liquidity </a:t>
            </a:r>
            <a:r>
              <a:rPr dirty="0"/>
              <a:t>Ratios</a:t>
            </a:r>
          </a:p>
          <a:p>
            <a:r>
              <a:rPr dirty="0" smtClean="0"/>
              <a:t>Solvency </a:t>
            </a:r>
            <a:r>
              <a:rPr dirty="0"/>
              <a:t>Ratios</a:t>
            </a:r>
          </a:p>
          <a:p>
            <a:r>
              <a:rPr dirty="0" smtClean="0"/>
              <a:t>Activity </a:t>
            </a:r>
            <a:r>
              <a:rPr dirty="0"/>
              <a:t>Ratios</a:t>
            </a:r>
          </a:p>
          <a:p>
            <a:r>
              <a:rPr dirty="0" smtClean="0"/>
              <a:t>Profitability </a:t>
            </a:r>
            <a:r>
              <a:rPr dirty="0"/>
              <a:t>Ratios</a:t>
            </a:r>
          </a:p>
          <a:p>
            <a:r>
              <a:rPr dirty="0" smtClean="0"/>
              <a:t>These </a:t>
            </a:r>
            <a:r>
              <a:rPr dirty="0"/>
              <a:t>tools together help evaluate financial health.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Need for Integrated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Individual ratios provide limited information.</a:t>
            </a:r>
          </a:p>
          <a:p>
            <a:endParaRPr dirty="0"/>
          </a:p>
          <a:p>
            <a:r>
              <a:rPr dirty="0"/>
              <a:t>Financial analysts must interpret ratios collectively.</a:t>
            </a:r>
          </a:p>
          <a:p>
            <a:endParaRPr dirty="0"/>
          </a:p>
          <a:p>
            <a:r>
              <a:rPr dirty="0"/>
              <a:t>Example:</a:t>
            </a:r>
          </a:p>
          <a:p>
            <a:r>
              <a:rPr dirty="0" smtClean="0"/>
              <a:t>High </a:t>
            </a:r>
            <a:r>
              <a:rPr dirty="0"/>
              <a:t>profitability with high debt may </a:t>
            </a:r>
            <a:r>
              <a:rPr dirty="0" smtClean="0"/>
              <a:t>indicate</a:t>
            </a:r>
            <a:r>
              <a:rPr lang="en-IN" dirty="0" smtClean="0"/>
              <a:t> </a:t>
            </a:r>
            <a:r>
              <a:rPr dirty="0" smtClean="0"/>
              <a:t>high </a:t>
            </a:r>
            <a:r>
              <a:rPr dirty="0"/>
              <a:t>financial risk.</a:t>
            </a:r>
          </a:p>
          <a:p>
            <a:endParaRPr dirty="0"/>
          </a:p>
          <a:p>
            <a:r>
              <a:rPr dirty="0"/>
              <a:t>Therefore integrated analysis is essential.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Interrelationship Among Ratios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Financial ratios influence each other.</a:t>
            </a:r>
          </a:p>
          <a:p>
            <a:endParaRPr/>
          </a:p>
          <a:p>
            <a:r>
              <a:t>Liquidity ↔ Activity</a:t>
            </a:r>
          </a:p>
          <a:p>
            <a:r>
              <a:t>Higher inventory turnover improves liquidity.</a:t>
            </a:r>
          </a:p>
          <a:p>
            <a:endParaRPr/>
          </a:p>
          <a:p>
            <a:r>
              <a:t>Profitability ↔ Efficiency</a:t>
            </a:r>
          </a:p>
          <a:p>
            <a:r>
              <a:t>Higher asset utilisation improves profitability.</a:t>
            </a:r>
          </a:p>
          <a:p>
            <a:endParaRPr/>
          </a:p>
          <a:p>
            <a:r>
              <a:t>Leverage ↔ Profitability</a:t>
            </a:r>
          </a:p>
          <a:p>
            <a:r>
              <a:t>Debt may increase return but also increases risk.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of Ratio Interaction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Company A</a:t>
            </a:r>
          </a:p>
          <a:p>
            <a:endParaRPr dirty="0"/>
          </a:p>
          <a:p>
            <a:r>
              <a:rPr dirty="0"/>
              <a:t>Current Ratio = 2.2</a:t>
            </a:r>
          </a:p>
          <a:p>
            <a:r>
              <a:rPr dirty="0"/>
              <a:t>Debt–Equity Ratio = 2.5</a:t>
            </a:r>
          </a:p>
          <a:p>
            <a:r>
              <a:rPr dirty="0"/>
              <a:t>Net Profit Margin = 3%</a:t>
            </a:r>
          </a:p>
          <a:p>
            <a:endParaRPr dirty="0"/>
          </a:p>
          <a:p>
            <a:r>
              <a:rPr dirty="0"/>
              <a:t>Interpretation:</a:t>
            </a:r>
          </a:p>
          <a:p>
            <a:r>
              <a:rPr dirty="0" smtClean="0"/>
              <a:t>Adequate </a:t>
            </a:r>
            <a:r>
              <a:rPr dirty="0"/>
              <a:t>liquidity but high leverage and weak profitability.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DuPont Analysis –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DuPont Analysis explains Return on Equity (</a:t>
            </a:r>
            <a:r>
              <a:rPr dirty="0" smtClean="0"/>
              <a:t>ROE)</a:t>
            </a:r>
            <a:r>
              <a:rPr lang="en-IN" dirty="0" smtClean="0"/>
              <a:t> </a:t>
            </a:r>
            <a:r>
              <a:rPr dirty="0" smtClean="0"/>
              <a:t>by </a:t>
            </a:r>
            <a:r>
              <a:rPr dirty="0"/>
              <a:t>decomposing it into key drivers.</a:t>
            </a:r>
          </a:p>
          <a:p>
            <a:endParaRPr dirty="0"/>
          </a:p>
          <a:p>
            <a:r>
              <a:rPr dirty="0"/>
              <a:t>ROE depends on:</a:t>
            </a:r>
          </a:p>
          <a:p>
            <a:pPr lvl="1"/>
            <a:r>
              <a:rPr dirty="0" smtClean="0"/>
              <a:t>Profitability</a:t>
            </a:r>
            <a:endParaRPr dirty="0"/>
          </a:p>
          <a:p>
            <a:pPr lvl="1"/>
            <a:r>
              <a:rPr dirty="0" smtClean="0"/>
              <a:t>Asset </a:t>
            </a:r>
            <a:r>
              <a:rPr dirty="0"/>
              <a:t>efficiency</a:t>
            </a:r>
          </a:p>
          <a:p>
            <a:pPr lvl="1"/>
            <a:r>
              <a:rPr dirty="0" smtClean="0"/>
              <a:t>Financial </a:t>
            </a:r>
            <a:r>
              <a:rPr dirty="0"/>
              <a:t>leverage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DuPont Formula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2160590"/>
            <a:ext cx="7448551" cy="3880773"/>
          </a:xfrm>
        </p:spPr>
        <p:txBody>
          <a:bodyPr/>
          <a:lstStyle/>
          <a:p>
            <a:r>
              <a:rPr dirty="0"/>
              <a:t>ROE = Net Profit Margin × Asset Turnover × Equity Multiplier</a:t>
            </a:r>
          </a:p>
          <a:p>
            <a:endParaRPr dirty="0"/>
          </a:p>
          <a:p>
            <a:r>
              <a:rPr dirty="0"/>
              <a:t>Where:</a:t>
            </a:r>
          </a:p>
          <a:p>
            <a:pPr lvl="1"/>
            <a:r>
              <a:rPr dirty="0" smtClean="0"/>
              <a:t>Net </a:t>
            </a:r>
            <a:r>
              <a:rPr dirty="0"/>
              <a:t>Profit Margin = Net Profit / Sales</a:t>
            </a:r>
          </a:p>
          <a:p>
            <a:pPr lvl="1"/>
            <a:r>
              <a:rPr dirty="0"/>
              <a:t>Asset Turnover = Sales / Total Assets</a:t>
            </a:r>
          </a:p>
          <a:p>
            <a:pPr lvl="1"/>
            <a:r>
              <a:rPr dirty="0"/>
              <a:t>Equity Multiplier = Total Assets / Equity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DuPont Example –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Company A</a:t>
            </a:r>
          </a:p>
          <a:p>
            <a:endParaRPr dirty="0"/>
          </a:p>
          <a:p>
            <a:r>
              <a:rPr dirty="0"/>
              <a:t>Sales = ₹2,00,00,000</a:t>
            </a:r>
          </a:p>
          <a:p>
            <a:r>
              <a:rPr dirty="0"/>
              <a:t>Net Profit = ₹20,00,000</a:t>
            </a:r>
          </a:p>
          <a:p>
            <a:r>
              <a:rPr dirty="0"/>
              <a:t>Total Assets = ₹1,00,00,000</a:t>
            </a:r>
          </a:p>
          <a:p>
            <a:r>
              <a:rPr dirty="0"/>
              <a:t>Equity = ₹50,00,000</a:t>
            </a:r>
          </a:p>
          <a:p>
            <a:endParaRPr dirty="0"/>
          </a:p>
          <a:p>
            <a:r>
              <a:rPr dirty="0"/>
              <a:t>Calculate ROE using DuPont Model.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DuPont Example –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Net Profit Margin = 20,00,000 / 2,00,00,000 = 10%</a:t>
            </a:r>
          </a:p>
          <a:p>
            <a:endParaRPr/>
          </a:p>
          <a:p>
            <a:r>
              <a:t>Asset Turnover = 2,00,00,000 / 1,00,00,000 = 2</a:t>
            </a:r>
          </a:p>
          <a:p>
            <a:endParaRPr/>
          </a:p>
          <a:p>
            <a:r>
              <a:t>Equity Multiplier = 1,00,00,000 / 50,00,000 = 2</a:t>
            </a:r>
          </a:p>
          <a:p>
            <a:endParaRPr/>
          </a:p>
          <a:p>
            <a:r>
              <a:t>ROE = 10% × 2 × 2 = 40%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Interpretation of DuPont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DuPont analysis helps managers </a:t>
            </a:r>
            <a:r>
              <a:rPr dirty="0" smtClean="0"/>
              <a:t>understand</a:t>
            </a:r>
            <a:r>
              <a:rPr lang="en-IN" dirty="0" smtClean="0"/>
              <a:t> </a:t>
            </a:r>
            <a:r>
              <a:rPr dirty="0" smtClean="0"/>
              <a:t>drivers </a:t>
            </a:r>
            <a:r>
              <a:rPr dirty="0"/>
              <a:t>of return.</a:t>
            </a:r>
          </a:p>
          <a:p>
            <a:endParaRPr dirty="0"/>
          </a:p>
          <a:p>
            <a:r>
              <a:rPr dirty="0"/>
              <a:t>ROE increases when:</a:t>
            </a:r>
          </a:p>
          <a:p>
            <a:endParaRPr dirty="0"/>
          </a:p>
          <a:p>
            <a:pPr lvl="1"/>
            <a:r>
              <a:rPr dirty="0" smtClean="0"/>
              <a:t>Profit </a:t>
            </a:r>
            <a:r>
              <a:rPr dirty="0"/>
              <a:t>margins improve</a:t>
            </a:r>
          </a:p>
          <a:p>
            <a:pPr lvl="1"/>
            <a:r>
              <a:rPr dirty="0" smtClean="0"/>
              <a:t>Assets </a:t>
            </a:r>
            <a:r>
              <a:rPr dirty="0"/>
              <a:t>are </a:t>
            </a:r>
            <a:r>
              <a:rPr dirty="0" smtClean="0"/>
              <a:t>utilized </a:t>
            </a:r>
            <a:r>
              <a:rPr dirty="0"/>
              <a:t>efficiently</a:t>
            </a:r>
          </a:p>
          <a:p>
            <a:pPr lvl="1"/>
            <a:r>
              <a:rPr dirty="0" smtClean="0"/>
              <a:t>Financial </a:t>
            </a:r>
            <a:r>
              <a:rPr dirty="0"/>
              <a:t>leverage increases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Illustration – Company 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Sales = ₹3,00,00,000</a:t>
            </a:r>
          </a:p>
          <a:p>
            <a:r>
              <a:rPr dirty="0"/>
              <a:t>Net Profit = ₹18,00,000</a:t>
            </a:r>
          </a:p>
          <a:p>
            <a:r>
              <a:rPr dirty="0"/>
              <a:t>Total Assets = ₹1,50,00,000</a:t>
            </a:r>
          </a:p>
          <a:p>
            <a:r>
              <a:rPr dirty="0"/>
              <a:t>Equity = ₹75,00,000</a:t>
            </a:r>
          </a:p>
          <a:p>
            <a:endParaRPr dirty="0"/>
          </a:p>
          <a:p>
            <a:r>
              <a:rPr lang="en-IN" dirty="0" smtClean="0"/>
              <a:t>C</a:t>
            </a:r>
            <a:r>
              <a:rPr dirty="0" err="1" smtClean="0"/>
              <a:t>alculate</a:t>
            </a:r>
            <a:r>
              <a:rPr dirty="0"/>
              <a:t>:</a:t>
            </a:r>
          </a:p>
          <a:p>
            <a:pPr lvl="1"/>
            <a:r>
              <a:rPr dirty="0" smtClean="0"/>
              <a:t>Profit </a:t>
            </a:r>
            <a:r>
              <a:rPr dirty="0"/>
              <a:t>Margin</a:t>
            </a:r>
          </a:p>
          <a:p>
            <a:pPr lvl="1"/>
            <a:r>
              <a:rPr dirty="0"/>
              <a:t>Asset Turnover</a:t>
            </a:r>
          </a:p>
          <a:p>
            <a:pPr lvl="1"/>
            <a:r>
              <a:rPr dirty="0"/>
              <a:t>ROE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– Company 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Profit Margin = 6%</a:t>
            </a:r>
          </a:p>
          <a:p>
            <a:endParaRPr/>
          </a:p>
          <a:p>
            <a:r>
              <a:t>Asset Turnover = 2</a:t>
            </a:r>
          </a:p>
          <a:p>
            <a:endParaRPr/>
          </a:p>
          <a:p>
            <a:r>
              <a:t>Equity Multiplier = 2</a:t>
            </a:r>
          </a:p>
          <a:p>
            <a:endParaRPr/>
          </a:p>
          <a:p>
            <a:r>
              <a:t>ROE = 24%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Meaning of Market Value Ratios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2160590"/>
            <a:ext cx="7605714" cy="4183060"/>
          </a:xfrm>
        </p:spPr>
        <p:txBody>
          <a:bodyPr>
            <a:noAutofit/>
          </a:bodyPr>
          <a:lstStyle/>
          <a:p>
            <a:r>
              <a:rPr dirty="0"/>
              <a:t>Market value ratios relate the market price of a </a:t>
            </a:r>
            <a:r>
              <a:rPr dirty="0" smtClean="0"/>
              <a:t>company's </a:t>
            </a:r>
            <a:r>
              <a:rPr dirty="0"/>
              <a:t>shares </a:t>
            </a:r>
            <a:r>
              <a:rPr dirty="0" smtClean="0"/>
              <a:t>to </a:t>
            </a:r>
            <a:r>
              <a:rPr dirty="0"/>
              <a:t>its earnings, dividends, or book value.</a:t>
            </a:r>
          </a:p>
          <a:p>
            <a:endParaRPr dirty="0"/>
          </a:p>
          <a:p>
            <a:r>
              <a:rPr dirty="0"/>
              <a:t>These ratios are widely used by:</a:t>
            </a:r>
          </a:p>
          <a:p>
            <a:pPr lvl="1"/>
            <a:r>
              <a:rPr dirty="0" smtClean="0"/>
              <a:t>Investors</a:t>
            </a:r>
            <a:endParaRPr dirty="0"/>
          </a:p>
          <a:p>
            <a:pPr lvl="1"/>
            <a:r>
              <a:rPr dirty="0" smtClean="0"/>
              <a:t>Equity </a:t>
            </a:r>
            <a:r>
              <a:rPr dirty="0"/>
              <a:t>analysts</a:t>
            </a:r>
          </a:p>
          <a:p>
            <a:pPr lvl="1"/>
            <a:r>
              <a:rPr dirty="0" smtClean="0"/>
              <a:t>Financial </a:t>
            </a:r>
            <a:r>
              <a:rPr dirty="0"/>
              <a:t>institutions</a:t>
            </a:r>
          </a:p>
          <a:p>
            <a:pPr lvl="1"/>
            <a:r>
              <a:rPr dirty="0" smtClean="0"/>
              <a:t>Portfolio </a:t>
            </a:r>
            <a:r>
              <a:rPr dirty="0"/>
              <a:t>managers</a:t>
            </a:r>
          </a:p>
          <a:p>
            <a:r>
              <a:rPr dirty="0" smtClean="0"/>
              <a:t>They </a:t>
            </a:r>
            <a:r>
              <a:rPr dirty="0"/>
              <a:t>help assess how the market values a company's performance.</a:t>
            </a:r>
          </a:p>
        </p:txBody>
      </p:sp>
    </p:spTree>
    <p:extLst>
      <p:ext uri="{BB962C8B-B14F-4D97-AF65-F5344CB8AC3E}">
        <p14:creationId xmlns:p14="http://schemas.microsoft.com/office/powerpoint/2010/main" val="23085434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of Market Value Ratios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Market value ratios help:</a:t>
            </a:r>
          </a:p>
          <a:p>
            <a:endParaRPr dirty="0"/>
          </a:p>
          <a:p>
            <a:pPr lvl="1"/>
            <a:r>
              <a:rPr dirty="0" smtClean="0"/>
              <a:t>Evaluate </a:t>
            </a:r>
            <a:r>
              <a:rPr dirty="0"/>
              <a:t>investor confidence</a:t>
            </a:r>
          </a:p>
          <a:p>
            <a:pPr lvl="1"/>
            <a:r>
              <a:rPr dirty="0" smtClean="0"/>
              <a:t>Assess </a:t>
            </a:r>
            <a:r>
              <a:rPr dirty="0"/>
              <a:t>market valuation of companies</a:t>
            </a:r>
          </a:p>
          <a:p>
            <a:pPr lvl="1"/>
            <a:r>
              <a:rPr dirty="0" smtClean="0"/>
              <a:t>Compare </a:t>
            </a:r>
            <a:r>
              <a:rPr dirty="0"/>
              <a:t>firms within an industry</a:t>
            </a:r>
          </a:p>
          <a:p>
            <a:pPr lvl="1"/>
            <a:r>
              <a:rPr dirty="0" smtClean="0"/>
              <a:t>Support </a:t>
            </a:r>
            <a:r>
              <a:rPr dirty="0"/>
              <a:t>investment decisions</a:t>
            </a:r>
          </a:p>
          <a:p>
            <a:pPr lvl="1"/>
            <a:r>
              <a:rPr dirty="0" err="1" smtClean="0"/>
              <a:t>Analyse</a:t>
            </a:r>
            <a:r>
              <a:rPr dirty="0" smtClean="0"/>
              <a:t> </a:t>
            </a:r>
            <a:r>
              <a:rPr dirty="0"/>
              <a:t>shareholder wealth creation</a:t>
            </a:r>
          </a:p>
        </p:txBody>
      </p:sp>
    </p:spTree>
    <p:extLst>
      <p:ext uri="{BB962C8B-B14F-4D97-AF65-F5344CB8AC3E}">
        <p14:creationId xmlns:p14="http://schemas.microsoft.com/office/powerpoint/2010/main" val="35944589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Major Market Value Ratios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Important market value ratios include:</a:t>
            </a:r>
          </a:p>
          <a:p>
            <a:endParaRPr dirty="0"/>
          </a:p>
          <a:p>
            <a:pPr lvl="1"/>
            <a:r>
              <a:rPr dirty="0" smtClean="0"/>
              <a:t>Earnings </a:t>
            </a:r>
            <a:r>
              <a:rPr dirty="0"/>
              <a:t>Per Share (EPS)</a:t>
            </a:r>
          </a:p>
          <a:p>
            <a:pPr lvl="1"/>
            <a:r>
              <a:rPr dirty="0" smtClean="0"/>
              <a:t>Price–Earnings </a:t>
            </a:r>
            <a:r>
              <a:rPr dirty="0"/>
              <a:t>Ratio (P/E)</a:t>
            </a:r>
          </a:p>
          <a:p>
            <a:pPr lvl="1"/>
            <a:r>
              <a:rPr dirty="0" smtClean="0"/>
              <a:t>Dividend </a:t>
            </a:r>
            <a:r>
              <a:rPr dirty="0"/>
              <a:t>Per Share (DPS)</a:t>
            </a:r>
          </a:p>
          <a:p>
            <a:pPr lvl="1"/>
            <a:r>
              <a:rPr dirty="0" smtClean="0"/>
              <a:t>Dividend </a:t>
            </a:r>
            <a:r>
              <a:rPr dirty="0"/>
              <a:t>Payout Ratio</a:t>
            </a:r>
          </a:p>
          <a:p>
            <a:pPr lvl="1"/>
            <a:r>
              <a:rPr dirty="0" smtClean="0"/>
              <a:t>Dividend </a:t>
            </a:r>
            <a:r>
              <a:rPr dirty="0"/>
              <a:t>Yield</a:t>
            </a:r>
          </a:p>
          <a:p>
            <a:pPr lvl="1"/>
            <a:r>
              <a:rPr dirty="0" smtClean="0"/>
              <a:t>Book </a:t>
            </a:r>
            <a:r>
              <a:rPr dirty="0"/>
              <a:t>Value Per Share</a:t>
            </a:r>
          </a:p>
          <a:p>
            <a:pPr lvl="1"/>
            <a:r>
              <a:rPr dirty="0" smtClean="0"/>
              <a:t>Market-to-Book </a:t>
            </a:r>
            <a:r>
              <a:rPr dirty="0"/>
              <a:t>Ratio</a:t>
            </a:r>
          </a:p>
        </p:txBody>
      </p:sp>
    </p:spTree>
    <p:extLst>
      <p:ext uri="{BB962C8B-B14F-4D97-AF65-F5344CB8AC3E}">
        <p14:creationId xmlns:p14="http://schemas.microsoft.com/office/powerpoint/2010/main" val="31818071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Earnings Per Share (EPS)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2160590"/>
            <a:ext cx="6862764" cy="3880773"/>
          </a:xfrm>
        </p:spPr>
        <p:txBody>
          <a:bodyPr/>
          <a:lstStyle/>
          <a:p>
            <a:r>
              <a:rPr dirty="0"/>
              <a:t>EPS measures the profit available for each share.</a:t>
            </a:r>
          </a:p>
          <a:p>
            <a:endParaRPr dirty="0"/>
          </a:p>
          <a:p>
            <a:r>
              <a:rPr dirty="0"/>
              <a:t>Formula:</a:t>
            </a:r>
          </a:p>
          <a:p>
            <a:r>
              <a:rPr dirty="0" smtClean="0"/>
              <a:t>EPS </a:t>
            </a:r>
            <a:r>
              <a:rPr dirty="0"/>
              <a:t>= Net Profit after Tax / Number of Equity Shares</a:t>
            </a:r>
          </a:p>
        </p:txBody>
      </p:sp>
    </p:spTree>
    <p:extLst>
      <p:ext uri="{BB962C8B-B14F-4D97-AF65-F5344CB8AC3E}">
        <p14:creationId xmlns:p14="http://schemas.microsoft.com/office/powerpoint/2010/main" val="22204007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EPS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A</a:t>
            </a:r>
          </a:p>
          <a:p>
            <a:endParaRPr/>
          </a:p>
          <a:p>
            <a:r>
              <a:t>Net Profit = ₹50,00,000</a:t>
            </a:r>
          </a:p>
          <a:p>
            <a:r>
              <a:t>Number of Shares = 10,00,000</a:t>
            </a:r>
          </a:p>
          <a:p>
            <a:endParaRPr/>
          </a:p>
          <a:p>
            <a:r>
              <a:t>EPS = ₹5 per share</a:t>
            </a:r>
          </a:p>
        </p:txBody>
      </p:sp>
    </p:spTree>
    <p:extLst>
      <p:ext uri="{BB962C8B-B14F-4D97-AF65-F5344CB8AC3E}">
        <p14:creationId xmlns:p14="http://schemas.microsoft.com/office/powerpoint/2010/main" val="5204733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Interpretation of 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Higher EPS indicates:</a:t>
            </a:r>
          </a:p>
          <a:p>
            <a:endParaRPr dirty="0"/>
          </a:p>
          <a:p>
            <a:pPr lvl="1"/>
            <a:r>
              <a:rPr dirty="0" smtClean="0"/>
              <a:t>Higher </a:t>
            </a:r>
            <a:r>
              <a:rPr dirty="0"/>
              <a:t>profitability</a:t>
            </a:r>
          </a:p>
          <a:p>
            <a:pPr lvl="1"/>
            <a:r>
              <a:rPr dirty="0" smtClean="0"/>
              <a:t>Higher </a:t>
            </a:r>
            <a:r>
              <a:rPr dirty="0"/>
              <a:t>shareholder earnings</a:t>
            </a:r>
          </a:p>
          <a:p>
            <a:pPr lvl="1"/>
            <a:r>
              <a:rPr dirty="0" smtClean="0"/>
              <a:t>Better </a:t>
            </a:r>
            <a:r>
              <a:rPr dirty="0"/>
              <a:t>performance of the firm</a:t>
            </a:r>
          </a:p>
          <a:p>
            <a:endParaRPr dirty="0"/>
          </a:p>
          <a:p>
            <a:r>
              <a:rPr dirty="0"/>
              <a:t>EPS should be compared with industry averages.</a:t>
            </a:r>
          </a:p>
        </p:txBody>
      </p:sp>
    </p:spTree>
    <p:extLst>
      <p:ext uri="{BB962C8B-B14F-4D97-AF65-F5344CB8AC3E}">
        <p14:creationId xmlns:p14="http://schemas.microsoft.com/office/powerpoint/2010/main" val="39329112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Price–Earnings Ratio (P/E)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P/E ratio measures how much investors are willing to </a:t>
            </a:r>
            <a:r>
              <a:rPr dirty="0" smtClean="0"/>
              <a:t>pay</a:t>
            </a:r>
            <a:r>
              <a:rPr lang="en-IN" dirty="0" smtClean="0"/>
              <a:t> </a:t>
            </a:r>
            <a:r>
              <a:rPr dirty="0" smtClean="0"/>
              <a:t>for </a:t>
            </a:r>
            <a:r>
              <a:rPr dirty="0"/>
              <a:t>each rupee of earnings.</a:t>
            </a:r>
          </a:p>
          <a:p>
            <a:endParaRPr dirty="0"/>
          </a:p>
          <a:p>
            <a:r>
              <a:rPr dirty="0"/>
              <a:t>Formula:</a:t>
            </a:r>
          </a:p>
          <a:p>
            <a:r>
              <a:rPr dirty="0" smtClean="0"/>
              <a:t>P/E </a:t>
            </a:r>
            <a:r>
              <a:rPr dirty="0"/>
              <a:t>Ratio = Market Price per Share / EPS</a:t>
            </a:r>
          </a:p>
        </p:txBody>
      </p:sp>
    </p:spTree>
    <p:extLst>
      <p:ext uri="{BB962C8B-B14F-4D97-AF65-F5344CB8AC3E}">
        <p14:creationId xmlns:p14="http://schemas.microsoft.com/office/powerpoint/2010/main" val="41578351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P/E Ratio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Company A</a:t>
            </a:r>
          </a:p>
          <a:p>
            <a:endParaRPr dirty="0"/>
          </a:p>
          <a:p>
            <a:r>
              <a:rPr dirty="0"/>
              <a:t>Market Price = ₹150</a:t>
            </a:r>
          </a:p>
          <a:p>
            <a:r>
              <a:rPr dirty="0"/>
              <a:t>EPS = ₹5</a:t>
            </a:r>
          </a:p>
          <a:p>
            <a:endParaRPr dirty="0"/>
          </a:p>
          <a:p>
            <a:r>
              <a:rPr dirty="0"/>
              <a:t>P/E Ratio = 30</a:t>
            </a:r>
          </a:p>
        </p:txBody>
      </p:sp>
    </p:spTree>
    <p:extLst>
      <p:ext uri="{BB962C8B-B14F-4D97-AF65-F5344CB8AC3E}">
        <p14:creationId xmlns:p14="http://schemas.microsoft.com/office/powerpoint/2010/main" val="40015166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Interpretation of P/E Ratio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High P/E ratio may indicate:</a:t>
            </a:r>
          </a:p>
          <a:p>
            <a:pPr lvl="1"/>
            <a:r>
              <a:rPr dirty="0" smtClean="0"/>
              <a:t>High </a:t>
            </a:r>
            <a:r>
              <a:rPr dirty="0"/>
              <a:t>growth expectations</a:t>
            </a:r>
          </a:p>
          <a:p>
            <a:pPr lvl="1"/>
            <a:r>
              <a:rPr dirty="0" smtClean="0"/>
              <a:t>Investor </a:t>
            </a:r>
            <a:r>
              <a:rPr dirty="0"/>
              <a:t>confidence</a:t>
            </a:r>
          </a:p>
          <a:p>
            <a:endParaRPr dirty="0"/>
          </a:p>
          <a:p>
            <a:r>
              <a:rPr dirty="0"/>
              <a:t>Low P/E ratio may indicate undervaluation or low growth expectations.</a:t>
            </a:r>
          </a:p>
        </p:txBody>
      </p:sp>
    </p:spTree>
    <p:extLst>
      <p:ext uri="{BB962C8B-B14F-4D97-AF65-F5344CB8AC3E}">
        <p14:creationId xmlns:p14="http://schemas.microsoft.com/office/powerpoint/2010/main" val="40215757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Dividend Per Share (DPS)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DPS measures dividend paid for each share.</a:t>
            </a:r>
          </a:p>
          <a:p>
            <a:endParaRPr dirty="0"/>
          </a:p>
          <a:p>
            <a:r>
              <a:rPr dirty="0"/>
              <a:t>Formula:</a:t>
            </a:r>
          </a:p>
          <a:p>
            <a:r>
              <a:rPr dirty="0" smtClean="0"/>
              <a:t>DPS </a:t>
            </a:r>
            <a:r>
              <a:rPr dirty="0"/>
              <a:t>= Total Dividend / Number of Shares</a:t>
            </a:r>
          </a:p>
        </p:txBody>
      </p:sp>
    </p:spTree>
    <p:extLst>
      <p:ext uri="{BB962C8B-B14F-4D97-AF65-F5344CB8AC3E}">
        <p14:creationId xmlns:p14="http://schemas.microsoft.com/office/powerpoint/2010/main" val="22998420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DPS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A</a:t>
            </a:r>
          </a:p>
          <a:p>
            <a:endParaRPr/>
          </a:p>
          <a:p>
            <a:r>
              <a:t>Dividend = ₹20,00,000</a:t>
            </a:r>
          </a:p>
          <a:p>
            <a:r>
              <a:t>Shares = 10,00,000</a:t>
            </a:r>
          </a:p>
          <a:p>
            <a:endParaRPr/>
          </a:p>
          <a:p>
            <a:r>
              <a:t>DPS = ₹2 per share</a:t>
            </a:r>
          </a:p>
        </p:txBody>
      </p:sp>
    </p:spTree>
    <p:extLst>
      <p:ext uri="{BB962C8B-B14F-4D97-AF65-F5344CB8AC3E}">
        <p14:creationId xmlns:p14="http://schemas.microsoft.com/office/powerpoint/2010/main" val="5311473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Dividend Payout Ratio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Dividend Payout Ratio measures proportion of </a:t>
            </a:r>
            <a:r>
              <a:rPr dirty="0" smtClean="0"/>
              <a:t>earnings</a:t>
            </a:r>
            <a:r>
              <a:rPr lang="en-IN" dirty="0" smtClean="0"/>
              <a:t> </a:t>
            </a:r>
            <a:r>
              <a:rPr dirty="0" smtClean="0"/>
              <a:t>distributed </a:t>
            </a:r>
            <a:r>
              <a:rPr dirty="0"/>
              <a:t>as dividends.</a:t>
            </a:r>
          </a:p>
          <a:p>
            <a:endParaRPr dirty="0"/>
          </a:p>
          <a:p>
            <a:r>
              <a:rPr dirty="0"/>
              <a:t>Formula:</a:t>
            </a:r>
          </a:p>
          <a:p>
            <a:r>
              <a:rPr dirty="0" smtClean="0"/>
              <a:t>Dividend </a:t>
            </a:r>
            <a:r>
              <a:rPr dirty="0"/>
              <a:t>/ Net Profit × </a:t>
            </a:r>
            <a:r>
              <a:rPr dirty="0" smtClean="0"/>
              <a:t>100</a:t>
            </a:r>
            <a:endParaRPr lang="en-IN" dirty="0" smtClean="0"/>
          </a:p>
          <a:p>
            <a:endParaRPr lang="en-IN" dirty="0"/>
          </a:p>
          <a:p>
            <a:r>
              <a:rPr lang="en-IN" dirty="0" smtClean="0"/>
              <a:t>Infosys has decided to share 85% of the profit to its shareholders (year 2025).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45745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Dividend Yield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Dividend Yield measures return received by </a:t>
            </a:r>
            <a:r>
              <a:rPr dirty="0" smtClean="0"/>
              <a:t>shareholders</a:t>
            </a:r>
            <a:r>
              <a:rPr lang="en-IN" dirty="0" smtClean="0"/>
              <a:t> </a:t>
            </a:r>
            <a:r>
              <a:rPr dirty="0" smtClean="0"/>
              <a:t>relative </a:t>
            </a:r>
            <a:r>
              <a:rPr dirty="0"/>
              <a:t>to share price.</a:t>
            </a:r>
          </a:p>
          <a:p>
            <a:endParaRPr dirty="0"/>
          </a:p>
          <a:p>
            <a:r>
              <a:rPr dirty="0"/>
              <a:t>Formula:</a:t>
            </a:r>
          </a:p>
          <a:p>
            <a:r>
              <a:rPr dirty="0" smtClean="0"/>
              <a:t>Dividend </a:t>
            </a:r>
            <a:r>
              <a:rPr dirty="0"/>
              <a:t>per Share / Market Price × </a:t>
            </a:r>
            <a:r>
              <a:rPr dirty="0" smtClean="0"/>
              <a:t>100</a:t>
            </a:r>
            <a:endParaRPr lang="en-IN" dirty="0" smtClean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640000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Book Value Per Share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Book Value per Share represents accounting </a:t>
            </a:r>
            <a:r>
              <a:rPr dirty="0" smtClean="0"/>
              <a:t>value</a:t>
            </a:r>
            <a:r>
              <a:rPr lang="en-IN" dirty="0" smtClean="0"/>
              <a:t> </a:t>
            </a:r>
            <a:r>
              <a:rPr dirty="0" smtClean="0"/>
              <a:t>of </a:t>
            </a:r>
            <a:r>
              <a:rPr dirty="0"/>
              <a:t>equity per share.</a:t>
            </a:r>
          </a:p>
          <a:p>
            <a:endParaRPr dirty="0"/>
          </a:p>
          <a:p>
            <a:r>
              <a:rPr dirty="0"/>
              <a:t>Formula:</a:t>
            </a:r>
          </a:p>
          <a:p>
            <a:r>
              <a:rPr lang="en-IN" dirty="0" smtClean="0"/>
              <a:t>BV = </a:t>
            </a:r>
            <a:r>
              <a:rPr dirty="0" smtClean="0"/>
              <a:t>Shareholders</a:t>
            </a:r>
            <a:r>
              <a:rPr dirty="0"/>
              <a:t>’ Equity / Number of Shares</a:t>
            </a:r>
          </a:p>
        </p:txBody>
      </p:sp>
    </p:spTree>
    <p:extLst>
      <p:ext uri="{BB962C8B-B14F-4D97-AF65-F5344CB8AC3E}">
        <p14:creationId xmlns:p14="http://schemas.microsoft.com/office/powerpoint/2010/main" val="36216190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Market-to-Book Ratio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Market-to-Book Ratio compares market </a:t>
            </a:r>
            <a:r>
              <a:rPr dirty="0" smtClean="0"/>
              <a:t>value</a:t>
            </a:r>
            <a:r>
              <a:rPr lang="en-IN" dirty="0" smtClean="0"/>
              <a:t> </a:t>
            </a:r>
            <a:r>
              <a:rPr dirty="0" smtClean="0"/>
              <a:t>of </a:t>
            </a:r>
            <a:r>
              <a:rPr dirty="0"/>
              <a:t>shares with book value.</a:t>
            </a:r>
          </a:p>
          <a:p>
            <a:endParaRPr dirty="0"/>
          </a:p>
          <a:p>
            <a:r>
              <a:rPr dirty="0"/>
              <a:t>Formula:</a:t>
            </a:r>
          </a:p>
          <a:p>
            <a:r>
              <a:rPr lang="en-IN" dirty="0" smtClean="0"/>
              <a:t>MB = </a:t>
            </a:r>
            <a:r>
              <a:rPr dirty="0" smtClean="0"/>
              <a:t>Market </a:t>
            </a:r>
            <a:r>
              <a:rPr dirty="0"/>
              <a:t>Price per Share / Book Value per Share</a:t>
            </a:r>
          </a:p>
        </p:txBody>
      </p:sp>
    </p:spTree>
    <p:extLst>
      <p:ext uri="{BB962C8B-B14F-4D97-AF65-F5344CB8AC3E}">
        <p14:creationId xmlns:p14="http://schemas.microsoft.com/office/powerpoint/2010/main" val="12863809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smtClean="0"/>
              <a:t>Example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dirty="0"/>
              <a:t>Company A</a:t>
            </a:r>
          </a:p>
          <a:p>
            <a:r>
              <a:rPr dirty="0" smtClean="0"/>
              <a:t>Net </a:t>
            </a:r>
            <a:r>
              <a:rPr dirty="0"/>
              <a:t>Profit = ₹60,00,000</a:t>
            </a:r>
          </a:p>
          <a:p>
            <a:r>
              <a:rPr dirty="0"/>
              <a:t>Shares = 12,00,000</a:t>
            </a:r>
          </a:p>
          <a:p>
            <a:r>
              <a:rPr dirty="0"/>
              <a:t>Market Price = ₹180</a:t>
            </a:r>
          </a:p>
          <a:p>
            <a:r>
              <a:rPr dirty="0"/>
              <a:t>Dividend = ₹24,00,000</a:t>
            </a:r>
          </a:p>
          <a:p>
            <a:r>
              <a:rPr dirty="0" smtClean="0"/>
              <a:t>calculate</a:t>
            </a:r>
            <a:r>
              <a:rPr dirty="0"/>
              <a:t>:</a:t>
            </a:r>
          </a:p>
          <a:p>
            <a:pPr lvl="1"/>
            <a:r>
              <a:rPr dirty="0" smtClean="0"/>
              <a:t>EPS</a:t>
            </a:r>
            <a:endParaRPr dirty="0"/>
          </a:p>
          <a:p>
            <a:pPr lvl="1"/>
            <a:r>
              <a:rPr dirty="0"/>
              <a:t>P/E Ratio</a:t>
            </a:r>
          </a:p>
          <a:p>
            <a:pPr lvl="1"/>
            <a:r>
              <a:rPr dirty="0"/>
              <a:t>Dividend Payout</a:t>
            </a:r>
          </a:p>
        </p:txBody>
      </p:sp>
    </p:spTree>
    <p:extLst>
      <p:ext uri="{BB962C8B-B14F-4D97-AF65-F5344CB8AC3E}">
        <p14:creationId xmlns:p14="http://schemas.microsoft.com/office/powerpoint/2010/main" val="18625245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EPS = ₹5</a:t>
            </a:r>
          </a:p>
          <a:p>
            <a:endParaRPr/>
          </a:p>
          <a:p>
            <a:r>
              <a:t>P/E Ratio = 36</a:t>
            </a:r>
          </a:p>
          <a:p>
            <a:endParaRPr/>
          </a:p>
          <a:p>
            <a:r>
              <a:t>Dividend Payout = 40%</a:t>
            </a:r>
          </a:p>
        </p:txBody>
      </p:sp>
    </p:spTree>
    <p:extLst>
      <p:ext uri="{BB962C8B-B14F-4D97-AF65-F5344CB8AC3E}">
        <p14:creationId xmlns:p14="http://schemas.microsoft.com/office/powerpoint/2010/main" val="6578367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of Market Value Ratios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Limitations include:</a:t>
            </a:r>
          </a:p>
          <a:p>
            <a:pPr lvl="1"/>
            <a:r>
              <a:rPr dirty="0" smtClean="0"/>
              <a:t>Share </a:t>
            </a:r>
            <a:r>
              <a:rPr dirty="0"/>
              <a:t>price volatility</a:t>
            </a:r>
          </a:p>
          <a:p>
            <a:pPr lvl="1"/>
            <a:r>
              <a:rPr dirty="0" smtClean="0"/>
              <a:t>Market </a:t>
            </a:r>
            <a:r>
              <a:rPr dirty="0"/>
              <a:t>speculation</a:t>
            </a:r>
          </a:p>
          <a:p>
            <a:pPr lvl="1"/>
            <a:r>
              <a:rPr dirty="0" smtClean="0"/>
              <a:t>Economic </a:t>
            </a:r>
            <a:r>
              <a:rPr dirty="0"/>
              <a:t>influences</a:t>
            </a:r>
          </a:p>
          <a:p>
            <a:pPr lvl="1"/>
            <a:r>
              <a:rPr dirty="0" smtClean="0"/>
              <a:t>Short-term </a:t>
            </a:r>
            <a:r>
              <a:rPr dirty="0"/>
              <a:t>fluctuations</a:t>
            </a:r>
          </a:p>
        </p:txBody>
      </p:sp>
    </p:spTree>
    <p:extLst>
      <p:ext uri="{BB962C8B-B14F-4D97-AF65-F5344CB8AC3E}">
        <p14:creationId xmlns:p14="http://schemas.microsoft.com/office/powerpoint/2010/main" val="32490507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of Financial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Financial analysis also has limitations:</a:t>
            </a:r>
          </a:p>
          <a:p>
            <a:pPr lvl="1"/>
            <a:r>
              <a:rPr dirty="0" smtClean="0"/>
              <a:t>Based </a:t>
            </a:r>
            <a:r>
              <a:rPr dirty="0"/>
              <a:t>on historical data</a:t>
            </a:r>
          </a:p>
          <a:p>
            <a:pPr lvl="1"/>
            <a:r>
              <a:rPr dirty="0" smtClean="0"/>
              <a:t>Accounting </a:t>
            </a:r>
            <a:r>
              <a:rPr dirty="0"/>
              <a:t>policies influence ratios</a:t>
            </a:r>
          </a:p>
          <a:p>
            <a:pPr lvl="1"/>
            <a:r>
              <a:rPr dirty="0" smtClean="0"/>
              <a:t>Inflation </a:t>
            </a:r>
            <a:r>
              <a:rPr dirty="0"/>
              <a:t>distortions</a:t>
            </a:r>
          </a:p>
          <a:p>
            <a:pPr lvl="1"/>
            <a:r>
              <a:rPr dirty="0" smtClean="0"/>
              <a:t>Window </a:t>
            </a:r>
            <a:r>
              <a:rPr dirty="0"/>
              <a:t>dressing may distort results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Managerial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Financial statement analysis supports:</a:t>
            </a:r>
          </a:p>
          <a:p>
            <a:endParaRPr dirty="0"/>
          </a:p>
          <a:p>
            <a:pPr lvl="1"/>
            <a:r>
              <a:rPr dirty="0" smtClean="0"/>
              <a:t>Investment </a:t>
            </a:r>
            <a:r>
              <a:rPr dirty="0"/>
              <a:t>decisions</a:t>
            </a:r>
          </a:p>
          <a:p>
            <a:pPr lvl="1"/>
            <a:r>
              <a:rPr dirty="0" smtClean="0"/>
              <a:t>Credit </a:t>
            </a:r>
            <a:r>
              <a:rPr dirty="0"/>
              <a:t>decisions</a:t>
            </a:r>
          </a:p>
          <a:p>
            <a:pPr lvl="1"/>
            <a:r>
              <a:rPr dirty="0" smtClean="0"/>
              <a:t>Performance </a:t>
            </a:r>
            <a:r>
              <a:rPr dirty="0"/>
              <a:t>evaluation</a:t>
            </a:r>
          </a:p>
          <a:p>
            <a:pPr lvl="1"/>
            <a:r>
              <a:rPr dirty="0" smtClean="0"/>
              <a:t>Strategic </a:t>
            </a:r>
            <a:r>
              <a:rPr dirty="0"/>
              <a:t>planning</a:t>
            </a:r>
          </a:p>
          <a:p>
            <a:pPr lvl="1"/>
            <a:r>
              <a:rPr dirty="0" smtClean="0"/>
              <a:t>Risk </a:t>
            </a:r>
            <a:r>
              <a:rPr dirty="0"/>
              <a:t>assessment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III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Financial statement analysis tools include:</a:t>
            </a:r>
          </a:p>
          <a:p>
            <a:endParaRPr dirty="0"/>
          </a:p>
          <a:p>
            <a:r>
              <a:rPr dirty="0" smtClean="0"/>
              <a:t>Comparative </a:t>
            </a:r>
            <a:r>
              <a:rPr dirty="0"/>
              <a:t>analysis</a:t>
            </a:r>
          </a:p>
          <a:p>
            <a:r>
              <a:rPr dirty="0" smtClean="0"/>
              <a:t>Common </a:t>
            </a:r>
            <a:r>
              <a:rPr dirty="0"/>
              <a:t>size analysis</a:t>
            </a:r>
          </a:p>
          <a:p>
            <a:r>
              <a:rPr dirty="0" smtClean="0"/>
              <a:t>Trend </a:t>
            </a:r>
            <a:r>
              <a:rPr dirty="0"/>
              <a:t>analysis</a:t>
            </a:r>
          </a:p>
          <a:p>
            <a:r>
              <a:rPr dirty="0" smtClean="0"/>
              <a:t>Ratio </a:t>
            </a:r>
            <a:r>
              <a:rPr dirty="0"/>
              <a:t>analysis</a:t>
            </a:r>
          </a:p>
          <a:p>
            <a:r>
              <a:rPr dirty="0" smtClean="0"/>
              <a:t>DuPont </a:t>
            </a:r>
            <a:r>
              <a:rPr dirty="0" smtClean="0"/>
              <a:t>analysis</a:t>
            </a:r>
            <a:endParaRPr lang="en-IN" dirty="0" smtClean="0"/>
          </a:p>
          <a:p>
            <a:r>
              <a:rPr lang="en-IN" dirty="0" smtClean="0"/>
              <a:t>Market Value analysis</a:t>
            </a:r>
            <a:endParaRPr dirty="0"/>
          </a:p>
          <a:p>
            <a:endParaRPr dirty="0"/>
          </a:p>
          <a:p>
            <a:r>
              <a:rPr dirty="0"/>
              <a:t>These tools help evaluate overall financial health.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 smtClean="0"/>
              <a:t>Financial </a:t>
            </a:r>
            <a:r>
              <a:rPr dirty="0"/>
              <a:t>ratios must be interpreted collectively</a:t>
            </a:r>
          </a:p>
          <a:p>
            <a:r>
              <a:rPr dirty="0" smtClean="0"/>
              <a:t>DuPont </a:t>
            </a:r>
            <a:r>
              <a:rPr dirty="0"/>
              <a:t>analysis explains sources of </a:t>
            </a:r>
            <a:r>
              <a:rPr dirty="0" smtClean="0"/>
              <a:t>profitability</a:t>
            </a:r>
            <a:endParaRPr lang="en-IN" dirty="0" smtClean="0"/>
          </a:p>
          <a:p>
            <a:r>
              <a:rPr lang="en-US" dirty="0"/>
              <a:t>Market value ratios link financial performance with share price</a:t>
            </a:r>
          </a:p>
          <a:p>
            <a:r>
              <a:rPr dirty="0" smtClean="0"/>
              <a:t>Integrated </a:t>
            </a:r>
            <a:r>
              <a:rPr dirty="0"/>
              <a:t>financial analysis supports decision making</a:t>
            </a:r>
          </a:p>
          <a:p>
            <a:r>
              <a:rPr dirty="0" smtClean="0"/>
              <a:t>Financial </a:t>
            </a:r>
            <a:r>
              <a:rPr dirty="0"/>
              <a:t>analysis is essential for investors and managers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57593801191DF4D984FE1A4D4B0D7E7" ma:contentTypeVersion="3" ma:contentTypeDescription="Create a new document." ma:contentTypeScope="" ma:versionID="e39092a7b4b27737e8a209021adc68b3">
  <xsd:schema xmlns:xsd="http://www.w3.org/2001/XMLSchema" xmlns:xs="http://www.w3.org/2001/XMLSchema" xmlns:p="http://schemas.microsoft.com/office/2006/metadata/properties" xmlns:ns2="a97a8ad6-67d7-4123-ae64-ac343da58d72" targetNamespace="http://schemas.microsoft.com/office/2006/metadata/properties" ma:root="true" ma:fieldsID="5b71e39e27f0c01b1326b4cb4b655a4e" ns2:_="">
    <xsd:import namespace="a97a8ad6-67d7-4123-ae64-ac343da58d7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7a8ad6-67d7-4123-ae64-ac343da58d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DA53D10-F78E-40D5-81B0-AABC97F60D34}"/>
</file>

<file path=customXml/itemProps2.xml><?xml version="1.0" encoding="utf-8"?>
<ds:datastoreItem xmlns:ds="http://schemas.openxmlformats.org/officeDocument/2006/customXml" ds:itemID="{7928E470-3CEB-433A-879A-48236EFCA627}"/>
</file>

<file path=customXml/itemProps3.xml><?xml version="1.0" encoding="utf-8"?>
<ds:datastoreItem xmlns:ds="http://schemas.openxmlformats.org/officeDocument/2006/customXml" ds:itemID="{B8CF1CBE-979D-48FA-9538-85A5913F5612}"/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24</TotalTime>
  <Words>1068</Words>
  <Application>Microsoft Office PowerPoint</Application>
  <PresentationFormat>On-screen Show (4:3)</PresentationFormat>
  <Paragraphs>271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Arial</vt:lpstr>
      <vt:lpstr>Trebuchet MS</vt:lpstr>
      <vt:lpstr>Wingdings 3</vt:lpstr>
      <vt:lpstr>Facet</vt:lpstr>
      <vt:lpstr>Integrated Financial Statement Analysis &amp; DuPont Framework</vt:lpstr>
      <vt:lpstr>Learning Objectives</vt:lpstr>
      <vt:lpstr>Reading Assignment – Prasanna Chandra</vt:lpstr>
      <vt:lpstr>Recap of Unit III Techniques</vt:lpstr>
      <vt:lpstr>Need for Integrated Analysis</vt:lpstr>
      <vt:lpstr>Interrelationship Among Ratios</vt:lpstr>
      <vt:lpstr>Example of Ratio Interaction</vt:lpstr>
      <vt:lpstr>DuPont Analysis – Concept</vt:lpstr>
      <vt:lpstr>DuPont Formula</vt:lpstr>
      <vt:lpstr>DuPont Example – Data</vt:lpstr>
      <vt:lpstr>DuPont Example – Solution</vt:lpstr>
      <vt:lpstr>Interpretation of DuPont Analysis</vt:lpstr>
      <vt:lpstr>Case Illustration – Company B</vt:lpstr>
      <vt:lpstr>Solution – Company B</vt:lpstr>
      <vt:lpstr>Meaning of Market Value Ratios</vt:lpstr>
      <vt:lpstr>Importance of Market Value Ratios</vt:lpstr>
      <vt:lpstr>Major Market Value Ratios</vt:lpstr>
      <vt:lpstr>Earnings Per Share (EPS)</vt:lpstr>
      <vt:lpstr>EPS Example</vt:lpstr>
      <vt:lpstr>Interpretation of EPS</vt:lpstr>
      <vt:lpstr>Price–Earnings Ratio (P/E)</vt:lpstr>
      <vt:lpstr>P/E Ratio Example</vt:lpstr>
      <vt:lpstr>Interpretation of P/E Ratio</vt:lpstr>
      <vt:lpstr>Dividend Per Share (DPS)</vt:lpstr>
      <vt:lpstr>DPS Example</vt:lpstr>
      <vt:lpstr>Dividend Payout Ratio</vt:lpstr>
      <vt:lpstr>Dividend Yield</vt:lpstr>
      <vt:lpstr>Book Value Per Share</vt:lpstr>
      <vt:lpstr>Market-to-Book Ratio</vt:lpstr>
      <vt:lpstr>Example</vt:lpstr>
      <vt:lpstr>Solution</vt:lpstr>
      <vt:lpstr>Limitations of Market Value Ratios</vt:lpstr>
      <vt:lpstr>Limitations of Financial Analysis</vt:lpstr>
      <vt:lpstr>Managerial Applications</vt:lpstr>
      <vt:lpstr>Unit III Summary</vt:lpstr>
      <vt:lpstr>Key Takeaways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Integrated Financial Statement Analysis &amp; DuPont Framework</dc:title>
  <dc:subject/>
  <dc:creator/>
  <cp:keywords/>
  <dc:description>generated using python-pptx</dc:description>
  <cp:lastModifiedBy>Darshit Shah</cp:lastModifiedBy>
  <cp:revision>5</cp:revision>
  <dcterms:created xsi:type="dcterms:W3CDTF">2013-01-27T09:14:16Z</dcterms:created>
  <dcterms:modified xsi:type="dcterms:W3CDTF">2026-03-31T07:37:27Z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0x010100157593801191DF4D984FE1A4D4B0D7E7</vt:lpwstr>
  </property>
</Properties>
</file>
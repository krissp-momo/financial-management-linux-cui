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8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1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73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68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27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33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9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6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1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4730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11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7548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44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991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43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62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Ratio Analysis (Part </a:t>
            </a:r>
            <a:r>
              <a:rPr lang="en-IN" dirty="0" smtClean="0"/>
              <a:t>2)</a:t>
            </a:r>
            <a:endParaRPr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722818" y="4997478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By Dr. Darshit SHAH</a:t>
            </a:r>
          </a:p>
          <a:p>
            <a:pPr>
              <a:spcBef>
                <a:spcPct val="0"/>
              </a:spcBef>
            </a:pPr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CSE, </a:t>
            </a:r>
            <a:r>
              <a:rPr lang="en-US" sz="36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SoT</a:t>
            </a:r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, PDEU</a:t>
            </a: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719137" y="2444751"/>
            <a:ext cx="7705726" cy="1968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/>
              <a:t>Course: Financial Management (24CSB221T)</a:t>
            </a:r>
            <a:endParaRPr lang="en-IN" sz="2800" dirty="0" smtClean="0"/>
          </a:p>
          <a:p>
            <a:r>
              <a:rPr sz="2800" dirty="0" smtClean="0"/>
              <a:t>Unit </a:t>
            </a:r>
            <a:r>
              <a:rPr sz="2800" dirty="0"/>
              <a:t>III – </a:t>
            </a:r>
            <a:r>
              <a:rPr lang="en-IN" sz="2800" dirty="0"/>
              <a:t>Understanding and Analysis of </a:t>
            </a:r>
            <a:r>
              <a:rPr lang="en-IN" sz="2800" dirty="0" smtClean="0"/>
              <a:t>Financial statements</a:t>
            </a:r>
          </a:p>
          <a:p>
            <a:r>
              <a:rPr lang="en-IN" sz="2800" dirty="0" smtClean="0"/>
              <a:t>B.Tech</a:t>
            </a:r>
            <a:r>
              <a:rPr lang="en-IN" sz="2800" dirty="0"/>
              <a:t>. (CSBS) – Semester IV</a:t>
            </a:r>
            <a:endParaRPr sz="28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74783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048502" cy="3880773"/>
          </a:xfrm>
        </p:spPr>
        <p:txBody>
          <a:bodyPr/>
          <a:lstStyle/>
          <a:p>
            <a:r>
              <a:rPr dirty="0"/>
              <a:t>After completing this lecture students should be able to:</a:t>
            </a:r>
          </a:p>
          <a:p>
            <a:endParaRPr dirty="0"/>
          </a:p>
          <a:p>
            <a:r>
              <a:rPr dirty="0" smtClean="0"/>
              <a:t>Understand </a:t>
            </a:r>
            <a:r>
              <a:rPr dirty="0"/>
              <a:t>solvency ratios and capital structure </a:t>
            </a:r>
            <a:r>
              <a:rPr dirty="0" smtClean="0"/>
              <a:t>risk</a:t>
            </a:r>
            <a:endParaRPr dirty="0"/>
          </a:p>
          <a:p>
            <a:r>
              <a:rPr dirty="0" smtClean="0"/>
              <a:t>Calculate </a:t>
            </a:r>
            <a:r>
              <a:rPr dirty="0"/>
              <a:t>activity (turnover) ratios</a:t>
            </a:r>
          </a:p>
          <a:p>
            <a:r>
              <a:rPr dirty="0" smtClean="0"/>
              <a:t>Evaluate </a:t>
            </a:r>
            <a:r>
              <a:rPr dirty="0"/>
              <a:t>operational efficiency</a:t>
            </a:r>
          </a:p>
          <a:p>
            <a:r>
              <a:rPr dirty="0" smtClean="0"/>
              <a:t>Calculate </a:t>
            </a:r>
            <a:r>
              <a:rPr dirty="0"/>
              <a:t>profitability ratios</a:t>
            </a:r>
          </a:p>
          <a:p>
            <a:r>
              <a:rPr dirty="0" smtClean="0"/>
              <a:t>Interpret </a:t>
            </a:r>
            <a:r>
              <a:rPr dirty="0"/>
              <a:t>profitability performance of a firm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Assignment – Prasanna Chandra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Prasanna</a:t>
            </a:r>
            <a:r>
              <a:rPr dirty="0"/>
              <a:t> Chandra (2019)</a:t>
            </a:r>
          </a:p>
          <a:p>
            <a:r>
              <a:rPr dirty="0"/>
              <a:t>Financial Management: Theory and Practice</a:t>
            </a:r>
          </a:p>
          <a:p>
            <a:r>
              <a:rPr dirty="0" smtClean="0"/>
              <a:t>Suggested </a:t>
            </a:r>
            <a:r>
              <a:rPr dirty="0"/>
              <a:t>Reading: Pages 165 – 190</a:t>
            </a:r>
          </a:p>
          <a:p>
            <a:endParaRPr dirty="0"/>
          </a:p>
          <a:p>
            <a:r>
              <a:rPr dirty="0"/>
              <a:t>Focus Areas:</a:t>
            </a:r>
          </a:p>
          <a:p>
            <a:r>
              <a:rPr dirty="0" smtClean="0"/>
              <a:t>Solvency </a:t>
            </a:r>
            <a:r>
              <a:rPr dirty="0"/>
              <a:t>ratios</a:t>
            </a:r>
          </a:p>
          <a:p>
            <a:r>
              <a:rPr dirty="0" smtClean="0"/>
              <a:t>Activity </a:t>
            </a:r>
            <a:r>
              <a:rPr dirty="0"/>
              <a:t>ratios</a:t>
            </a:r>
          </a:p>
          <a:p>
            <a:r>
              <a:rPr dirty="0" smtClean="0"/>
              <a:t>Profitability </a:t>
            </a:r>
            <a:r>
              <a:rPr dirty="0"/>
              <a:t>ratios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– Previous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dirty="0"/>
              <a:t>Lecture 5 covered:</a:t>
            </a:r>
          </a:p>
          <a:p>
            <a:endParaRPr dirty="0"/>
          </a:p>
          <a:p>
            <a:r>
              <a:rPr dirty="0" smtClean="0"/>
              <a:t>Meaning </a:t>
            </a:r>
            <a:r>
              <a:rPr dirty="0"/>
              <a:t>of ratio analysis</a:t>
            </a:r>
          </a:p>
          <a:p>
            <a:r>
              <a:rPr dirty="0" smtClean="0"/>
              <a:t>Importance </a:t>
            </a:r>
            <a:r>
              <a:rPr dirty="0"/>
              <a:t>of ratio analysis</a:t>
            </a:r>
          </a:p>
          <a:p>
            <a:r>
              <a:rPr dirty="0" smtClean="0"/>
              <a:t>Liquidity </a:t>
            </a:r>
            <a:r>
              <a:rPr dirty="0"/>
              <a:t>ratios</a:t>
            </a:r>
          </a:p>
          <a:p>
            <a:pPr lvl="1"/>
            <a:r>
              <a:rPr dirty="0" smtClean="0"/>
              <a:t>Current </a:t>
            </a:r>
            <a:r>
              <a:rPr dirty="0"/>
              <a:t>Ratio</a:t>
            </a:r>
          </a:p>
          <a:p>
            <a:pPr lvl="1"/>
            <a:r>
              <a:rPr dirty="0" smtClean="0"/>
              <a:t>Quick </a:t>
            </a:r>
            <a:r>
              <a:rPr dirty="0"/>
              <a:t>Ratio</a:t>
            </a:r>
          </a:p>
          <a:p>
            <a:pPr lvl="1"/>
            <a:r>
              <a:rPr dirty="0" smtClean="0"/>
              <a:t>Cash </a:t>
            </a:r>
            <a:r>
              <a:rPr dirty="0"/>
              <a:t>Ratio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Categories of Ratios (Complete Framework)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Financial ratios can be classified into:</a:t>
            </a:r>
          </a:p>
          <a:p>
            <a:endParaRPr dirty="0"/>
          </a:p>
          <a:p>
            <a:r>
              <a:rPr dirty="0" smtClean="0"/>
              <a:t>Liquidity Ratios</a:t>
            </a:r>
            <a:endParaRPr dirty="0"/>
          </a:p>
          <a:p>
            <a:r>
              <a:rPr b="1" dirty="0" smtClean="0"/>
              <a:t>Solvency </a:t>
            </a:r>
            <a:r>
              <a:rPr b="1" dirty="0"/>
              <a:t>Ratios</a:t>
            </a:r>
          </a:p>
          <a:p>
            <a:r>
              <a:rPr b="1" dirty="0" smtClean="0"/>
              <a:t>Activity </a:t>
            </a:r>
            <a:r>
              <a:rPr b="1" dirty="0"/>
              <a:t>(Turnover) Ratios</a:t>
            </a:r>
          </a:p>
          <a:p>
            <a:r>
              <a:rPr b="1" dirty="0" smtClean="0"/>
              <a:t>Profitability </a:t>
            </a:r>
            <a:r>
              <a:rPr b="1" dirty="0"/>
              <a:t>Ratios</a:t>
            </a:r>
          </a:p>
          <a:p>
            <a:r>
              <a:rPr dirty="0" smtClean="0"/>
              <a:t>Market </a:t>
            </a:r>
            <a:r>
              <a:rPr dirty="0"/>
              <a:t>Value Ratios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Solvency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Solvency ratios measure the long-term financial stability of a company.</a:t>
            </a:r>
          </a:p>
          <a:p>
            <a:endParaRPr dirty="0"/>
          </a:p>
          <a:p>
            <a:r>
              <a:rPr dirty="0"/>
              <a:t>They evaluate the firm's ability to meet long-term </a:t>
            </a:r>
            <a:r>
              <a:rPr dirty="0" smtClean="0"/>
              <a:t>obligations</a:t>
            </a:r>
            <a:r>
              <a:rPr lang="en-IN" dirty="0" smtClean="0"/>
              <a:t> </a:t>
            </a:r>
            <a:r>
              <a:rPr dirty="0" smtClean="0"/>
              <a:t>and </a:t>
            </a:r>
            <a:r>
              <a:rPr dirty="0"/>
              <a:t>assess financial risk.</a:t>
            </a:r>
          </a:p>
          <a:p>
            <a:endParaRPr dirty="0"/>
          </a:p>
          <a:p>
            <a:r>
              <a:rPr dirty="0"/>
              <a:t>Important for:</a:t>
            </a:r>
          </a:p>
          <a:p>
            <a:pPr lvl="1"/>
            <a:r>
              <a:rPr dirty="0" smtClean="0"/>
              <a:t>Long-term </a:t>
            </a:r>
            <a:r>
              <a:rPr dirty="0"/>
              <a:t>lenders</a:t>
            </a:r>
          </a:p>
          <a:p>
            <a:pPr lvl="1"/>
            <a:r>
              <a:rPr dirty="0" smtClean="0"/>
              <a:t>Investors</a:t>
            </a:r>
            <a:endParaRPr dirty="0"/>
          </a:p>
          <a:p>
            <a:pPr lvl="1"/>
            <a:r>
              <a:rPr dirty="0" smtClean="0"/>
              <a:t>Credit </a:t>
            </a:r>
            <a:r>
              <a:rPr dirty="0"/>
              <a:t>rating agencies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Debt–Equity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Debt–Equity Ratio measures the relationship </a:t>
            </a:r>
            <a:r>
              <a:rPr dirty="0" smtClean="0"/>
              <a:t>between</a:t>
            </a:r>
            <a:r>
              <a:rPr lang="en-IN" dirty="0" smtClean="0"/>
              <a:t> </a:t>
            </a:r>
            <a:r>
              <a:rPr dirty="0" smtClean="0"/>
              <a:t>total </a:t>
            </a:r>
            <a:r>
              <a:rPr dirty="0"/>
              <a:t>debt and shareholders' equity.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dirty="0" smtClean="0"/>
              <a:t>Debt–Equity </a:t>
            </a:r>
            <a:r>
              <a:rPr dirty="0"/>
              <a:t>Ratio = Total Debt / Shareholders’ </a:t>
            </a:r>
            <a:r>
              <a:rPr dirty="0" smtClean="0"/>
              <a:t>Equity</a:t>
            </a:r>
            <a:endParaRPr lang="en-IN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Debt–Equity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Company A</a:t>
            </a:r>
          </a:p>
          <a:p>
            <a:endParaRPr dirty="0"/>
          </a:p>
          <a:p>
            <a:r>
              <a:rPr dirty="0"/>
              <a:t>Total Debt = ₹60,00,000</a:t>
            </a:r>
          </a:p>
          <a:p>
            <a:r>
              <a:rPr dirty="0"/>
              <a:t>Equity = ₹40,00,000</a:t>
            </a:r>
          </a:p>
          <a:p>
            <a:endParaRPr dirty="0"/>
          </a:p>
          <a:p>
            <a:r>
              <a:rPr dirty="0"/>
              <a:t>Debt–Equity Ratio = 60,00,000 / 40,00,000</a:t>
            </a:r>
          </a:p>
          <a:p>
            <a:endParaRPr dirty="0"/>
          </a:p>
          <a:p>
            <a:r>
              <a:rPr dirty="0"/>
              <a:t>Debt–Equity Ratio = 1.5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– Debt Equity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Higher ratio indicates greater financial risk.</a:t>
            </a:r>
          </a:p>
          <a:p>
            <a:endParaRPr dirty="0"/>
          </a:p>
          <a:p>
            <a:r>
              <a:rPr dirty="0"/>
              <a:t>Lower ratio indicates conservative financing.</a:t>
            </a:r>
          </a:p>
          <a:p>
            <a:endParaRPr dirty="0"/>
          </a:p>
          <a:p>
            <a:r>
              <a:rPr dirty="0"/>
              <a:t>However acceptable level depends on industry norms.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Interest Coverage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Interest Coverage Ratio measures the </a:t>
            </a:r>
            <a:r>
              <a:rPr dirty="0" smtClean="0"/>
              <a:t>ability</a:t>
            </a:r>
            <a:r>
              <a:rPr lang="en-IN" dirty="0" smtClean="0"/>
              <a:t> </a:t>
            </a:r>
            <a:r>
              <a:rPr dirty="0" smtClean="0"/>
              <a:t>to </a:t>
            </a:r>
            <a:r>
              <a:rPr dirty="0"/>
              <a:t>pay interest obligations.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dirty="0" smtClean="0"/>
              <a:t>Interest </a:t>
            </a:r>
            <a:r>
              <a:rPr dirty="0"/>
              <a:t>Coverage = EBIT / Interest </a:t>
            </a:r>
            <a:r>
              <a:rPr dirty="0" smtClean="0"/>
              <a:t>Expense</a:t>
            </a:r>
            <a:endParaRPr lang="en-IN" dirty="0"/>
          </a:p>
          <a:p>
            <a:endParaRPr lang="en-IN" dirty="0" smtClean="0"/>
          </a:p>
          <a:p>
            <a:r>
              <a:rPr lang="en-IN" dirty="0" smtClean="0"/>
              <a:t>Here EBIT: Earning Before Interest and Tax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Interest Coverage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A</a:t>
            </a:r>
          </a:p>
          <a:p>
            <a:endParaRPr/>
          </a:p>
          <a:p>
            <a:r>
              <a:t>EBIT = ₹20,00,000</a:t>
            </a:r>
          </a:p>
          <a:p>
            <a:r>
              <a:t>Interest = ₹5,00,000</a:t>
            </a:r>
          </a:p>
          <a:p>
            <a:endParaRPr/>
          </a:p>
          <a:p>
            <a:r>
              <a:t>Interest Coverage = 20,00,000 / 5,00,000</a:t>
            </a:r>
          </a:p>
          <a:p>
            <a:endParaRPr/>
          </a:p>
          <a:p>
            <a:r>
              <a:t>Interest Coverage = 4 times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Activity ratios measure how efficiently a </a:t>
            </a:r>
            <a:r>
              <a:rPr dirty="0" smtClean="0"/>
              <a:t>firm</a:t>
            </a:r>
            <a:r>
              <a:rPr lang="en-IN" dirty="0" smtClean="0"/>
              <a:t> </a:t>
            </a:r>
            <a:r>
              <a:rPr dirty="0" smtClean="0"/>
              <a:t>uses </a:t>
            </a:r>
            <a:r>
              <a:rPr dirty="0"/>
              <a:t>its assets.</a:t>
            </a:r>
          </a:p>
          <a:p>
            <a:endParaRPr dirty="0"/>
          </a:p>
          <a:p>
            <a:r>
              <a:rPr dirty="0"/>
              <a:t>They are also known as turnover ratios.</a:t>
            </a:r>
          </a:p>
          <a:p>
            <a:endParaRPr dirty="0"/>
          </a:p>
          <a:p>
            <a:r>
              <a:rPr dirty="0"/>
              <a:t>These ratios evaluate operational efficiency.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Turnover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Inventory Turnover Ratio measures how </a:t>
            </a:r>
            <a:r>
              <a:rPr dirty="0" smtClean="0"/>
              <a:t>quickly</a:t>
            </a:r>
            <a:r>
              <a:rPr lang="en-IN" dirty="0" smtClean="0"/>
              <a:t> </a:t>
            </a:r>
            <a:r>
              <a:rPr dirty="0" smtClean="0"/>
              <a:t>inventory </a:t>
            </a:r>
            <a:r>
              <a:rPr dirty="0"/>
              <a:t>is sold.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endParaRPr dirty="0"/>
          </a:p>
          <a:p>
            <a:r>
              <a:rPr dirty="0"/>
              <a:t>Inventory Turnover = Cost of Goods Sold / Average </a:t>
            </a:r>
            <a:r>
              <a:rPr dirty="0" smtClean="0"/>
              <a:t>Inventory</a:t>
            </a:r>
            <a:endParaRPr lang="en-IN" dirty="0" smtClean="0"/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Turnover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Company A</a:t>
            </a:r>
          </a:p>
          <a:p>
            <a:endParaRPr dirty="0"/>
          </a:p>
          <a:p>
            <a:r>
              <a:rPr dirty="0"/>
              <a:t>COGS = ₹80,00,000</a:t>
            </a:r>
          </a:p>
          <a:p>
            <a:r>
              <a:rPr dirty="0"/>
              <a:t>Average Inventory = ₹20,00,000</a:t>
            </a:r>
          </a:p>
          <a:p>
            <a:endParaRPr dirty="0"/>
          </a:p>
          <a:p>
            <a:r>
              <a:rPr dirty="0"/>
              <a:t>Inventory Turnover = 80,00,000 / 20,00,000</a:t>
            </a:r>
          </a:p>
          <a:p>
            <a:endParaRPr dirty="0"/>
          </a:p>
          <a:p>
            <a:r>
              <a:rPr dirty="0"/>
              <a:t>Inventory Turnover = 4 times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Receivables Turnover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Receivables Turnover measures how </a:t>
            </a:r>
            <a:r>
              <a:rPr dirty="0" smtClean="0"/>
              <a:t>quickly</a:t>
            </a:r>
            <a:r>
              <a:rPr lang="en-IN" dirty="0" smtClean="0"/>
              <a:t> </a:t>
            </a:r>
            <a:r>
              <a:rPr dirty="0" smtClean="0"/>
              <a:t>credit </a:t>
            </a:r>
            <a:r>
              <a:rPr dirty="0"/>
              <a:t>sales are collected.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dirty="0" smtClean="0"/>
              <a:t>Receivables </a:t>
            </a:r>
            <a:r>
              <a:rPr dirty="0"/>
              <a:t>Turnover = Credit Sales / Average Receivables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Receivables Turnover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A</a:t>
            </a:r>
          </a:p>
          <a:p>
            <a:endParaRPr/>
          </a:p>
          <a:p>
            <a:r>
              <a:t>Credit Sales = ₹1,20,00,000</a:t>
            </a:r>
          </a:p>
          <a:p>
            <a:r>
              <a:t>Average Receivables = ₹30,00,000</a:t>
            </a:r>
          </a:p>
          <a:p>
            <a:endParaRPr/>
          </a:p>
          <a:p>
            <a:r>
              <a:t>Receivables Turnover = 4 times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Profitability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Profitability ratios measure the firm's </a:t>
            </a:r>
            <a:r>
              <a:rPr dirty="0" smtClean="0"/>
              <a:t>ability</a:t>
            </a:r>
            <a:r>
              <a:rPr lang="en-IN" dirty="0" smtClean="0"/>
              <a:t> </a:t>
            </a:r>
            <a:r>
              <a:rPr dirty="0" smtClean="0"/>
              <a:t>to </a:t>
            </a:r>
            <a:r>
              <a:rPr dirty="0"/>
              <a:t>generate profit.</a:t>
            </a:r>
          </a:p>
          <a:p>
            <a:endParaRPr dirty="0"/>
          </a:p>
          <a:p>
            <a:r>
              <a:rPr dirty="0"/>
              <a:t>These ratios are most important for investors and management.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Gross Profit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Gross Profit Margin shows profit after </a:t>
            </a:r>
            <a:r>
              <a:rPr dirty="0" smtClean="0"/>
              <a:t>covering</a:t>
            </a:r>
            <a:r>
              <a:rPr lang="en-IN" dirty="0" smtClean="0"/>
              <a:t> </a:t>
            </a:r>
            <a:r>
              <a:rPr dirty="0" smtClean="0"/>
              <a:t>cost </a:t>
            </a:r>
            <a:r>
              <a:rPr dirty="0"/>
              <a:t>of goods sold.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dirty="0" smtClean="0"/>
              <a:t>Gross </a:t>
            </a:r>
            <a:r>
              <a:rPr dirty="0"/>
              <a:t>Profit Margin = Gross Profit / Sales </a:t>
            </a:r>
            <a:r>
              <a:rPr lang="en-IN" dirty="0" smtClean="0"/>
              <a:t>*</a:t>
            </a:r>
            <a:r>
              <a:rPr dirty="0" smtClean="0"/>
              <a:t> </a:t>
            </a:r>
            <a:r>
              <a:rPr dirty="0"/>
              <a:t>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Gross Profit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A</a:t>
            </a:r>
          </a:p>
          <a:p>
            <a:endParaRPr/>
          </a:p>
          <a:p>
            <a:r>
              <a:t>Sales = ₹1,00,00,000</a:t>
            </a:r>
          </a:p>
          <a:p>
            <a:r>
              <a:t>Gross Profit = ₹30,00,000</a:t>
            </a:r>
          </a:p>
          <a:p>
            <a:endParaRPr/>
          </a:p>
          <a:p>
            <a:r>
              <a:t>Gross Profit Margin = 30%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Profit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Net Profit Margin measures overall profitability.</a:t>
            </a:r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dirty="0" smtClean="0"/>
              <a:t>Net </a:t>
            </a:r>
            <a:r>
              <a:rPr dirty="0"/>
              <a:t>Profit Margin = Net Profit / Sales ×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Profit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A</a:t>
            </a:r>
          </a:p>
          <a:p>
            <a:endParaRPr/>
          </a:p>
          <a:p>
            <a:r>
              <a:t>Sales = ₹1,00,00,000</a:t>
            </a:r>
          </a:p>
          <a:p>
            <a:r>
              <a:t>Net Profit = ₹12,00,000</a:t>
            </a:r>
          </a:p>
          <a:p>
            <a:endParaRPr/>
          </a:p>
          <a:p>
            <a:r>
              <a:t>Net Profit Margin = 12%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on Assets (ROA)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ROA measures efficiency of asset </a:t>
            </a:r>
            <a:r>
              <a:rPr dirty="0" smtClean="0"/>
              <a:t>utilization.</a:t>
            </a:r>
            <a:endParaRPr dirty="0"/>
          </a:p>
          <a:p>
            <a:endParaRPr dirty="0"/>
          </a:p>
          <a:p>
            <a:r>
              <a:rPr dirty="0"/>
              <a:t>Formula:</a:t>
            </a:r>
          </a:p>
          <a:p>
            <a:r>
              <a:rPr dirty="0" smtClean="0"/>
              <a:t>ROA </a:t>
            </a:r>
            <a:r>
              <a:rPr dirty="0"/>
              <a:t>= Net Profit / Total Assets × 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A</a:t>
            </a:r>
          </a:p>
          <a:p>
            <a:endParaRPr/>
          </a:p>
          <a:p>
            <a:r>
              <a:t>Net Profit = ₹10,00,000</a:t>
            </a:r>
          </a:p>
          <a:p>
            <a:r>
              <a:t>Total Assets = ₹80,00,000</a:t>
            </a:r>
          </a:p>
          <a:p>
            <a:endParaRPr/>
          </a:p>
          <a:p>
            <a:r>
              <a:t>ROA = 12.5%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Calculate the followings: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Company A</a:t>
            </a:r>
          </a:p>
          <a:p>
            <a:endParaRPr dirty="0"/>
          </a:p>
          <a:p>
            <a:r>
              <a:rPr dirty="0"/>
              <a:t>Sales = ₹1,50,00,000</a:t>
            </a:r>
          </a:p>
          <a:p>
            <a:r>
              <a:rPr dirty="0"/>
              <a:t>COGS = ₹90,00,000</a:t>
            </a:r>
          </a:p>
          <a:p>
            <a:r>
              <a:rPr dirty="0"/>
              <a:t>Net Profit = ₹18,00,000</a:t>
            </a:r>
          </a:p>
          <a:p>
            <a:r>
              <a:rPr dirty="0"/>
              <a:t>Total Assets = ₹1,20,00,000</a:t>
            </a:r>
          </a:p>
          <a:p>
            <a:endParaRPr dirty="0"/>
          </a:p>
          <a:p>
            <a:r>
              <a:rPr dirty="0"/>
              <a:t>Calculate:</a:t>
            </a:r>
          </a:p>
          <a:p>
            <a:endParaRPr dirty="0"/>
          </a:p>
          <a:p>
            <a:r>
              <a:rPr dirty="0"/>
              <a:t>1. Gross Profit Margin</a:t>
            </a:r>
          </a:p>
          <a:p>
            <a:r>
              <a:rPr dirty="0"/>
              <a:t>2. Net Profit Margin</a:t>
            </a:r>
          </a:p>
          <a:p>
            <a:r>
              <a:rPr dirty="0"/>
              <a:t>3. ROA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Gross Profit = 60,00,000</a:t>
            </a:r>
          </a:p>
          <a:p>
            <a:endParaRPr/>
          </a:p>
          <a:p>
            <a:r>
              <a:t>Gross Profit Margin = 40%</a:t>
            </a:r>
          </a:p>
          <a:p>
            <a:endParaRPr/>
          </a:p>
          <a:p>
            <a:r>
              <a:t>Net Profit Margin = 12%</a:t>
            </a:r>
          </a:p>
          <a:p>
            <a:endParaRPr/>
          </a:p>
          <a:p>
            <a:r>
              <a:t>ROA = 15%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of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Financial ratios should be interpreted using:</a:t>
            </a:r>
          </a:p>
          <a:p>
            <a:endParaRPr dirty="0"/>
          </a:p>
          <a:p>
            <a:r>
              <a:rPr dirty="0" smtClean="0"/>
              <a:t>Industry </a:t>
            </a:r>
            <a:r>
              <a:rPr dirty="0"/>
              <a:t>benchmarks</a:t>
            </a:r>
          </a:p>
          <a:p>
            <a:r>
              <a:rPr dirty="0" smtClean="0"/>
              <a:t>Historical </a:t>
            </a:r>
            <a:r>
              <a:rPr dirty="0"/>
              <a:t>comparison</a:t>
            </a:r>
          </a:p>
          <a:p>
            <a:r>
              <a:rPr dirty="0" smtClean="0"/>
              <a:t>Competitor </a:t>
            </a:r>
            <a:r>
              <a:rPr dirty="0"/>
              <a:t>comparison</a:t>
            </a:r>
          </a:p>
          <a:p>
            <a:endParaRPr dirty="0"/>
          </a:p>
          <a:p>
            <a:r>
              <a:rPr dirty="0"/>
              <a:t>Single ratio alone cannot give a complete picture</a:t>
            </a:r>
            <a:r>
              <a:rPr dirty="0" smtClean="0"/>
              <a:t>.</a:t>
            </a:r>
            <a:endParaRPr lang="en-IN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Solvency </a:t>
            </a:r>
            <a:r>
              <a:rPr dirty="0"/>
              <a:t>ratios measure long-term financial risk</a:t>
            </a:r>
          </a:p>
          <a:p>
            <a:r>
              <a:rPr dirty="0" smtClean="0"/>
              <a:t>Activity </a:t>
            </a:r>
            <a:r>
              <a:rPr dirty="0"/>
              <a:t>ratios measure efficiency</a:t>
            </a:r>
          </a:p>
          <a:p>
            <a:r>
              <a:rPr dirty="0" smtClean="0"/>
              <a:t>Profitability </a:t>
            </a:r>
            <a:r>
              <a:rPr dirty="0"/>
              <a:t>ratios measure earning power</a:t>
            </a:r>
          </a:p>
          <a:p>
            <a:r>
              <a:rPr dirty="0" smtClean="0"/>
              <a:t>Ratio </a:t>
            </a:r>
            <a:r>
              <a:rPr dirty="0"/>
              <a:t>interpretation requires contextual </a:t>
            </a:r>
            <a:r>
              <a:rPr dirty="0" smtClean="0"/>
              <a:t>analysis</a:t>
            </a:r>
            <a:endParaRPr lang="en-IN" dirty="0" smtClean="0"/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593801191DF4D984FE1A4D4B0D7E7" ma:contentTypeVersion="3" ma:contentTypeDescription="Create a new document." ma:contentTypeScope="" ma:versionID="e39092a7b4b27737e8a209021adc68b3">
  <xsd:schema xmlns:xsd="http://www.w3.org/2001/XMLSchema" xmlns:xs="http://www.w3.org/2001/XMLSchema" xmlns:p="http://schemas.microsoft.com/office/2006/metadata/properties" xmlns:ns2="a97a8ad6-67d7-4123-ae64-ac343da58d72" targetNamespace="http://schemas.microsoft.com/office/2006/metadata/properties" ma:root="true" ma:fieldsID="5b71e39e27f0c01b1326b4cb4b655a4e" ns2:_="">
    <xsd:import namespace="a97a8ad6-67d7-4123-ae64-ac343da58d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a8ad6-67d7-4123-ae64-ac343da58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D1CAF5E-5997-4376-B38F-B0209DB65A0E}"/>
</file>

<file path=customXml/itemProps2.xml><?xml version="1.0" encoding="utf-8"?>
<ds:datastoreItem xmlns:ds="http://schemas.openxmlformats.org/officeDocument/2006/customXml" ds:itemID="{8B42FFFF-9C12-4C4C-90EA-4E0A21A5716E}"/>
</file>

<file path=customXml/itemProps3.xml><?xml version="1.0" encoding="utf-8"?>
<ds:datastoreItem xmlns:ds="http://schemas.openxmlformats.org/officeDocument/2006/customXml" ds:itemID="{74CF5381-AA63-40C9-829C-3044D780DD1C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707</Words>
  <Application>Microsoft Office PowerPoint</Application>
  <PresentationFormat>On-screen Show (4:3)</PresentationFormat>
  <Paragraphs>192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Trebuchet MS</vt:lpstr>
      <vt:lpstr>Wingdings 3</vt:lpstr>
      <vt:lpstr>Facet</vt:lpstr>
      <vt:lpstr>Ratio Analysis (Part 2)</vt:lpstr>
      <vt:lpstr>Learning Objectives</vt:lpstr>
      <vt:lpstr>Reading Assignment – Prasanna Chandra</vt:lpstr>
      <vt:lpstr>Recap – Previous Lecture</vt:lpstr>
      <vt:lpstr>Categories of Ratios (Complete Framework)</vt:lpstr>
      <vt:lpstr>Solvency Ratios</vt:lpstr>
      <vt:lpstr>Debt–Equity Ratio</vt:lpstr>
      <vt:lpstr>Debt–Equity Example</vt:lpstr>
      <vt:lpstr>Interpretation – Debt Equity Ratio</vt:lpstr>
      <vt:lpstr>Interest Coverage Ratio</vt:lpstr>
      <vt:lpstr>Interest Coverage Example</vt:lpstr>
      <vt:lpstr>Activity Ratios</vt:lpstr>
      <vt:lpstr>Inventory Turnover Ratio</vt:lpstr>
      <vt:lpstr>Inventory Turnover Example</vt:lpstr>
      <vt:lpstr>Receivables Turnover Ratio</vt:lpstr>
      <vt:lpstr>Receivables Turnover Example</vt:lpstr>
      <vt:lpstr>Profitability Ratios</vt:lpstr>
      <vt:lpstr>Gross Profit Margin</vt:lpstr>
      <vt:lpstr>Gross Profit Example</vt:lpstr>
      <vt:lpstr>Net Profit Margin</vt:lpstr>
      <vt:lpstr>Net Profit Example</vt:lpstr>
      <vt:lpstr>Return on Assets (ROA)</vt:lpstr>
      <vt:lpstr>ROA Example</vt:lpstr>
      <vt:lpstr>Calculate the followings:</vt:lpstr>
      <vt:lpstr>Solution</vt:lpstr>
      <vt:lpstr>Interpretation of Ratios</vt:lpstr>
      <vt:lpstr>Key Takeaways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Analysis (Part 2)</dc:title>
  <dc:subject/>
  <dc:creator/>
  <cp:keywords/>
  <dc:description>generated using python-pptx</dc:description>
  <cp:lastModifiedBy>Darshit Shah</cp:lastModifiedBy>
  <cp:revision>3</cp:revision>
  <dcterms:created xsi:type="dcterms:W3CDTF">2013-01-27T09:14:16Z</dcterms:created>
  <dcterms:modified xsi:type="dcterms:W3CDTF">2026-03-31T06:59:45Z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0x010100157593801191DF4D984FE1A4D4B0D7E7</vt:lpwstr>
  </property>
</Properties>
</file>
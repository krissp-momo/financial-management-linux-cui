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9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4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9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4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3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5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7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54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3905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62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803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1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83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3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4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III – Ratio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Practice Work</a:t>
            </a:r>
          </a:p>
          <a:p>
            <a:r>
              <a:rPr lang="en-IN" dirty="0" smtClean="0"/>
              <a:t>Dr Darshit SHAH</a:t>
            </a:r>
          </a:p>
          <a:p>
            <a:r>
              <a:rPr lang="en-IN" dirty="0" smtClean="0"/>
              <a:t>CSE, SoT, PDEU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32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Practice Test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57588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Current Assets ₹850,000</a:t>
            </a:r>
          </a:p>
          <a:p>
            <a:r>
              <a:rPr dirty="0"/>
              <a:t>Inventory ₹300,000</a:t>
            </a:r>
          </a:p>
          <a:p>
            <a:r>
              <a:rPr dirty="0"/>
              <a:t>Current Liabilities ₹425,000</a:t>
            </a:r>
          </a:p>
          <a:p>
            <a:r>
              <a:rPr dirty="0"/>
              <a:t>Total Debt ₹1,100,000</a:t>
            </a:r>
          </a:p>
          <a:p>
            <a:r>
              <a:rPr dirty="0"/>
              <a:t>Equity ₹550,000</a:t>
            </a:r>
          </a:p>
          <a:p>
            <a:r>
              <a:rPr dirty="0"/>
              <a:t>EBIT ₹550,000</a:t>
            </a:r>
          </a:p>
          <a:p>
            <a:r>
              <a:rPr dirty="0"/>
              <a:t>Interest ₹110,000</a:t>
            </a:r>
          </a:p>
          <a:p>
            <a:r>
              <a:rPr dirty="0"/>
              <a:t>COGS ₹1,700,000</a:t>
            </a:r>
          </a:p>
          <a:p>
            <a:r>
              <a:rPr dirty="0"/>
              <a:t>Average Inventory ₹340,000</a:t>
            </a:r>
          </a:p>
          <a:p>
            <a:r>
              <a:rPr dirty="0"/>
              <a:t>Credit Sales ₹2,100,000</a:t>
            </a:r>
          </a:p>
          <a:p>
            <a:r>
              <a:rPr dirty="0"/>
              <a:t>Average Receivables ₹350,000</a:t>
            </a:r>
          </a:p>
          <a:p>
            <a:r>
              <a:rPr dirty="0"/>
              <a:t>Sales ₹2,800,000</a:t>
            </a:r>
          </a:p>
          <a:p>
            <a:r>
              <a:rPr dirty="0"/>
              <a:t>Gross Profit ₹840,000</a:t>
            </a:r>
          </a:p>
          <a:p>
            <a:r>
              <a:rPr dirty="0"/>
              <a:t>Net Profit ₹336,000</a:t>
            </a:r>
          </a:p>
          <a:p>
            <a:r>
              <a:rPr dirty="0"/>
              <a:t>Total Assets ₹2,100,000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29100" y="1700213"/>
            <a:ext cx="42148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Calculate:</a:t>
            </a:r>
          </a:p>
          <a:p>
            <a:r>
              <a:rPr lang="en-IN" dirty="0"/>
              <a:t>1. Current Ratio</a:t>
            </a:r>
          </a:p>
          <a:p>
            <a:r>
              <a:rPr lang="en-IN" dirty="0"/>
              <a:t>2. Quick Ratio</a:t>
            </a:r>
          </a:p>
          <a:p>
            <a:r>
              <a:rPr lang="en-IN" dirty="0"/>
              <a:t>3. Debt–Equity Ratio</a:t>
            </a:r>
          </a:p>
          <a:p>
            <a:r>
              <a:rPr lang="en-IN" dirty="0"/>
              <a:t>4. Interest Coverage Ratio</a:t>
            </a:r>
          </a:p>
          <a:p>
            <a:r>
              <a:rPr lang="en-IN" dirty="0"/>
              <a:t>5. Inventory Turnover Ratio</a:t>
            </a:r>
          </a:p>
          <a:p>
            <a:r>
              <a:rPr lang="en-IN" dirty="0"/>
              <a:t>6. Receivables Turnover Ratio</a:t>
            </a:r>
          </a:p>
          <a:p>
            <a:r>
              <a:rPr lang="en-IN" dirty="0"/>
              <a:t>7. Gross Profit Margin</a:t>
            </a:r>
          </a:p>
          <a:p>
            <a:r>
              <a:rPr lang="en-IN" dirty="0"/>
              <a:t>8. Net Profit Margin</a:t>
            </a:r>
          </a:p>
          <a:p>
            <a:r>
              <a:rPr lang="en-IN" dirty="0"/>
              <a:t>9. Return on Assets (ROA)</a:t>
            </a:r>
          </a:p>
          <a:p>
            <a:r>
              <a:rPr lang="en-IN" dirty="0"/>
              <a:t>10. Return on Equity (DuPont)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Formulas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60" y="1403353"/>
            <a:ext cx="7691439" cy="3880773"/>
          </a:xfrm>
        </p:spPr>
        <p:txBody>
          <a:bodyPr>
            <a:noAutofit/>
          </a:bodyPr>
          <a:lstStyle/>
          <a:p>
            <a:r>
              <a:rPr sz="2000" dirty="0"/>
              <a:t>Current Ratio: Current Assets / Current Liabilities</a:t>
            </a:r>
          </a:p>
          <a:p>
            <a:r>
              <a:rPr sz="2000" dirty="0"/>
              <a:t>Quick Ratio: (Current Assets − Inventory) / Current Liabilities</a:t>
            </a:r>
          </a:p>
          <a:p>
            <a:r>
              <a:rPr sz="2000" dirty="0"/>
              <a:t>Debt–Equity Ratio: Total Debt / Shareholders' Equity</a:t>
            </a:r>
          </a:p>
          <a:p>
            <a:r>
              <a:rPr sz="2000" dirty="0"/>
              <a:t>Interest Coverage Ratio: EBIT / Interest Expense</a:t>
            </a:r>
          </a:p>
          <a:p>
            <a:r>
              <a:rPr sz="2000" dirty="0"/>
              <a:t>Inventory Turnover Ratio: Cost of Goods Sold / Average Inventory</a:t>
            </a:r>
          </a:p>
          <a:p>
            <a:r>
              <a:rPr sz="2000" dirty="0"/>
              <a:t>Receivables Turnover Ratio: Credit Sales / Average Receivables</a:t>
            </a:r>
          </a:p>
          <a:p>
            <a:r>
              <a:rPr sz="2000" dirty="0"/>
              <a:t>Gross Profit Margin: Gross Profit / Sales × 100</a:t>
            </a:r>
          </a:p>
          <a:p>
            <a:r>
              <a:rPr sz="2000" dirty="0"/>
              <a:t>Net Profit Margin: Net Profit / Sales × 100</a:t>
            </a:r>
          </a:p>
          <a:p>
            <a:r>
              <a:rPr sz="2000" dirty="0"/>
              <a:t>Return on Assets (ROA): Net Profit / Total Assets × 100</a:t>
            </a:r>
          </a:p>
          <a:p>
            <a:r>
              <a:rPr sz="2000" dirty="0"/>
              <a:t>Return on Equity (DuPont): (Net Profit / Sales) × (Sales / Assets) × (Assets / Equity)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Answers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3" y="1574796"/>
            <a:ext cx="6347714" cy="3880773"/>
          </a:xfrm>
        </p:spPr>
        <p:txBody>
          <a:bodyPr>
            <a:noAutofit/>
          </a:bodyPr>
          <a:lstStyle/>
          <a:p>
            <a:r>
              <a:rPr sz="2000" dirty="0"/>
              <a:t>Current Ratio: 2.0</a:t>
            </a:r>
          </a:p>
          <a:p>
            <a:r>
              <a:rPr sz="2000" dirty="0"/>
              <a:t>Quick Ratio: 1.29</a:t>
            </a:r>
          </a:p>
          <a:p>
            <a:r>
              <a:rPr sz="2000" dirty="0"/>
              <a:t>Debt–Equity Ratio: 2.0</a:t>
            </a:r>
          </a:p>
          <a:p>
            <a:r>
              <a:rPr sz="2000" dirty="0"/>
              <a:t>Interest Coverage Ratio: 5.0</a:t>
            </a:r>
          </a:p>
          <a:p>
            <a:r>
              <a:rPr sz="2000" dirty="0"/>
              <a:t>Inventory Turnover Ratio: 5.0</a:t>
            </a:r>
          </a:p>
          <a:p>
            <a:r>
              <a:rPr sz="2000" dirty="0"/>
              <a:t>Receivables Turnover Ratio: 6.0</a:t>
            </a:r>
          </a:p>
          <a:p>
            <a:r>
              <a:rPr sz="2000" dirty="0"/>
              <a:t>Gross Profit Margin (%): 30.0</a:t>
            </a:r>
          </a:p>
          <a:p>
            <a:r>
              <a:rPr sz="2000" dirty="0"/>
              <a:t>Net Profit Margin (%): 12.0</a:t>
            </a:r>
          </a:p>
          <a:p>
            <a:r>
              <a:rPr sz="2000" dirty="0"/>
              <a:t>ROA (%): 16.0</a:t>
            </a:r>
          </a:p>
          <a:p>
            <a:r>
              <a:rPr sz="2000" dirty="0"/>
              <a:t>ROE (DuPont) (%): 61.09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Practice Test II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86138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Current Assets ₹920,000</a:t>
            </a:r>
          </a:p>
          <a:p>
            <a:r>
              <a:rPr dirty="0"/>
              <a:t>Inventory ₹360,000</a:t>
            </a:r>
          </a:p>
          <a:p>
            <a:r>
              <a:rPr dirty="0"/>
              <a:t>Current Liabilities ₹460,000</a:t>
            </a:r>
          </a:p>
          <a:p>
            <a:r>
              <a:rPr dirty="0"/>
              <a:t>Total Debt ₹1,500,000</a:t>
            </a:r>
          </a:p>
          <a:p>
            <a:r>
              <a:rPr dirty="0"/>
              <a:t>Equity ₹750,000</a:t>
            </a:r>
          </a:p>
          <a:p>
            <a:r>
              <a:rPr dirty="0"/>
              <a:t>EBIT ₹720,000</a:t>
            </a:r>
          </a:p>
          <a:p>
            <a:r>
              <a:rPr dirty="0"/>
              <a:t>Interest ₹180,000</a:t>
            </a:r>
          </a:p>
          <a:p>
            <a:r>
              <a:rPr dirty="0"/>
              <a:t>COGS ₹2,200,000</a:t>
            </a:r>
          </a:p>
          <a:p>
            <a:r>
              <a:rPr dirty="0"/>
              <a:t>Average Inventory ₹440,000</a:t>
            </a:r>
          </a:p>
          <a:p>
            <a:r>
              <a:rPr dirty="0"/>
              <a:t>Credit Sales ₹2,600,000</a:t>
            </a:r>
          </a:p>
          <a:p>
            <a:r>
              <a:rPr dirty="0"/>
              <a:t>Average Receivables ₹520,000</a:t>
            </a:r>
          </a:p>
          <a:p>
            <a:r>
              <a:rPr dirty="0"/>
              <a:t>Sales ₹3,400,000</a:t>
            </a:r>
          </a:p>
          <a:p>
            <a:r>
              <a:rPr dirty="0"/>
              <a:t>Gross Profit ₹1,020,000</a:t>
            </a:r>
          </a:p>
          <a:p>
            <a:r>
              <a:rPr dirty="0"/>
              <a:t>Net Profit ₹408,000</a:t>
            </a:r>
          </a:p>
          <a:p>
            <a:r>
              <a:rPr dirty="0"/>
              <a:t>Total Assets ₹2,550,000</a:t>
            </a:r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95816" y="1595434"/>
            <a:ext cx="4176697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smtClean="0"/>
              <a:t>Calculate:</a:t>
            </a:r>
          </a:p>
          <a:p>
            <a:pPr marL="0" indent="0">
              <a:buNone/>
            </a:pPr>
            <a:r>
              <a:rPr lang="en-IN" dirty="0" smtClean="0"/>
              <a:t>1. Current Ratio</a:t>
            </a:r>
          </a:p>
          <a:p>
            <a:pPr marL="0" indent="0">
              <a:buNone/>
            </a:pPr>
            <a:r>
              <a:rPr lang="en-IN" dirty="0" smtClean="0"/>
              <a:t>2. Quick Ratio</a:t>
            </a:r>
          </a:p>
          <a:p>
            <a:pPr marL="0" indent="0">
              <a:buNone/>
            </a:pPr>
            <a:r>
              <a:rPr lang="en-IN" dirty="0" smtClean="0"/>
              <a:t>3. Debt–Equity Ratio</a:t>
            </a:r>
          </a:p>
          <a:p>
            <a:pPr marL="0" indent="0">
              <a:buNone/>
            </a:pPr>
            <a:r>
              <a:rPr lang="en-IN" dirty="0" smtClean="0"/>
              <a:t>4. Interest Coverage Ratio</a:t>
            </a:r>
          </a:p>
          <a:p>
            <a:pPr marL="0" indent="0">
              <a:buNone/>
            </a:pPr>
            <a:r>
              <a:rPr lang="en-IN" dirty="0" smtClean="0"/>
              <a:t>5. Inventory Turnover Ratio</a:t>
            </a:r>
          </a:p>
          <a:p>
            <a:pPr marL="0" indent="0">
              <a:buNone/>
            </a:pPr>
            <a:r>
              <a:rPr lang="en-IN" dirty="0" smtClean="0"/>
              <a:t>6. Receivables Turnover Ratio</a:t>
            </a:r>
          </a:p>
          <a:p>
            <a:pPr marL="0" indent="0">
              <a:buNone/>
            </a:pPr>
            <a:r>
              <a:rPr lang="en-IN" dirty="0" smtClean="0"/>
              <a:t>7. Gross Profit Margin</a:t>
            </a:r>
          </a:p>
          <a:p>
            <a:pPr marL="0" indent="0">
              <a:buNone/>
            </a:pPr>
            <a:r>
              <a:rPr lang="en-IN" dirty="0" smtClean="0"/>
              <a:t>8. Net Profit Margin</a:t>
            </a:r>
          </a:p>
          <a:p>
            <a:pPr marL="0" indent="0">
              <a:buNone/>
            </a:pPr>
            <a:r>
              <a:rPr lang="en-IN" dirty="0" smtClean="0"/>
              <a:t>9. Return on Assets (ROA)</a:t>
            </a:r>
          </a:p>
          <a:p>
            <a:pPr marL="0" indent="0">
              <a:buNone/>
            </a:pPr>
            <a:r>
              <a:rPr lang="en-IN" dirty="0" smtClean="0"/>
              <a:t>10. Return on Equity (DuPont)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Formulas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Current Ratio: Current Assets / Current Liabilities</a:t>
            </a:r>
          </a:p>
          <a:p>
            <a:r>
              <a:t>Quick Ratio: (Current Assets − Inventory) / Current Liabilities</a:t>
            </a:r>
          </a:p>
          <a:p>
            <a:r>
              <a:t>Debt–Equity Ratio: Total Debt / Shareholders' Equity</a:t>
            </a:r>
          </a:p>
          <a:p>
            <a:r>
              <a:t>Interest Coverage Ratio: EBIT / Interest Expense</a:t>
            </a:r>
          </a:p>
          <a:p>
            <a:r>
              <a:t>Inventory Turnover Ratio: Cost of Goods Sold / Average Inventory</a:t>
            </a:r>
          </a:p>
          <a:p>
            <a:r>
              <a:t>Receivables Turnover Ratio: Credit Sales / Average Receivables</a:t>
            </a:r>
          </a:p>
          <a:p>
            <a:r>
              <a:t>Gross Profit Margin: Gross Profit / Sales × 100</a:t>
            </a:r>
          </a:p>
          <a:p>
            <a:r>
              <a:t>Net Profit Margin: Net Profit / Sales × 100</a:t>
            </a:r>
          </a:p>
          <a:p>
            <a:r>
              <a:t>Return on Assets (ROA): Net Profit / Total Assets × 100</a:t>
            </a:r>
          </a:p>
          <a:p>
            <a:r>
              <a:t>Return on Equity (DuPont): (Net Profit / Sales) × (Sales / Assets) × (Assets / Equity)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Practice Test II - </a:t>
            </a:r>
            <a:r>
              <a:rPr dirty="0" smtClean="0"/>
              <a:t>Answers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11660"/>
          </a:xfrm>
        </p:spPr>
        <p:txBody>
          <a:bodyPr>
            <a:noAutofit/>
          </a:bodyPr>
          <a:lstStyle/>
          <a:p>
            <a:r>
              <a:rPr sz="2000" dirty="0"/>
              <a:t>Current Ratio: 2.0</a:t>
            </a:r>
          </a:p>
          <a:p>
            <a:r>
              <a:rPr sz="2000" dirty="0"/>
              <a:t>Quick Ratio: 1.22</a:t>
            </a:r>
          </a:p>
          <a:p>
            <a:r>
              <a:rPr sz="2000" dirty="0"/>
              <a:t>Debt–Equity Ratio: 2.0</a:t>
            </a:r>
          </a:p>
          <a:p>
            <a:r>
              <a:rPr sz="2000" dirty="0"/>
              <a:t>Interest Coverage Ratio: 4.0</a:t>
            </a:r>
          </a:p>
          <a:p>
            <a:r>
              <a:rPr sz="2000" dirty="0"/>
              <a:t>Inventory Turnover Ratio: 5.0</a:t>
            </a:r>
          </a:p>
          <a:p>
            <a:r>
              <a:rPr sz="2000" dirty="0"/>
              <a:t>Receivables Turnover Ratio: 5.0</a:t>
            </a:r>
          </a:p>
          <a:p>
            <a:r>
              <a:rPr sz="2000" dirty="0"/>
              <a:t>Gross Profit Margin (%): 30.0</a:t>
            </a:r>
          </a:p>
          <a:p>
            <a:r>
              <a:rPr sz="2000" dirty="0"/>
              <a:t>Net Profit Margin (%): 12.0</a:t>
            </a:r>
          </a:p>
          <a:p>
            <a:r>
              <a:rPr sz="2000" dirty="0"/>
              <a:t>ROA (%): 16.0</a:t>
            </a:r>
          </a:p>
          <a:p>
            <a:r>
              <a:rPr sz="2000" dirty="0"/>
              <a:t>ROE (DuPont) (%): 54.4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8B1FAC-9003-4679-BD51-45343C050086}"/>
</file>

<file path=customXml/itemProps2.xml><?xml version="1.0" encoding="utf-8"?>
<ds:datastoreItem xmlns:ds="http://schemas.openxmlformats.org/officeDocument/2006/customXml" ds:itemID="{058BC292-D15B-4DA8-980D-7BDC6CD63C38}"/>
</file>

<file path=customXml/itemProps3.xml><?xml version="1.0" encoding="utf-8"?>
<ds:datastoreItem xmlns:ds="http://schemas.openxmlformats.org/officeDocument/2006/customXml" ds:itemID="{A38897ED-4855-4DC2-9CC8-C69F23C2828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566</Words>
  <Application>Microsoft Office PowerPoint</Application>
  <PresentationFormat>On-screen Show (4:3)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Unit III – Ratio Analysis</vt:lpstr>
      <vt:lpstr>Practice Test</vt:lpstr>
      <vt:lpstr>Formulas</vt:lpstr>
      <vt:lpstr>Answers</vt:lpstr>
      <vt:lpstr>Practice Test II</vt:lpstr>
      <vt:lpstr>Formulas</vt:lpstr>
      <vt:lpstr>Practice Test II - Answers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 – Ratio Analysis</dc:title>
  <dc:subject/>
  <dc:creator/>
  <cp:keywords/>
  <dc:description>generated using python-pptx</dc:description>
  <cp:lastModifiedBy>Darshit Shah</cp:lastModifiedBy>
  <cp:revision>4</cp:revision>
  <dcterms:created xsi:type="dcterms:W3CDTF">2013-01-27T09:14:16Z</dcterms:created>
  <dcterms:modified xsi:type="dcterms:W3CDTF">2026-04-02T05:02:25Z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
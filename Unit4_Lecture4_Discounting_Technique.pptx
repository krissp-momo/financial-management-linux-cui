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3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93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>
              <a:defRPr sz="2200">
                <a:solidFill>
                  <a:schemeClr val="bg1"/>
                </a:solidFill>
                <a:latin typeface="Bahnschrift" panose="020B0502040204020203" pitchFamily="34" charset="0"/>
              </a:defRPr>
            </a:lvl2pPr>
            <a:lvl3pPr>
              <a:defRPr sz="2200">
                <a:solidFill>
                  <a:schemeClr val="bg1"/>
                </a:solidFill>
                <a:latin typeface="Bahnschrift" panose="020B0502040204020203" pitchFamily="34" charset="0"/>
              </a:defRPr>
            </a:lvl3pPr>
            <a:lvl4pPr>
              <a:defRPr sz="2200">
                <a:solidFill>
                  <a:schemeClr val="bg1"/>
                </a:solidFill>
                <a:latin typeface="Bahnschrift" panose="020B0502040204020203" pitchFamily="34" charset="0"/>
              </a:defRPr>
            </a:lvl4pPr>
            <a:lvl5pPr>
              <a:defRPr sz="2200">
                <a:solidFill>
                  <a:schemeClr val="bg1"/>
                </a:solidFill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100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803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14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39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473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111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924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37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120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747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229332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665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74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3051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9653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89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000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dirty="0"/>
              <a:t>Unit IV – </a:t>
            </a:r>
            <a:r>
              <a:rPr lang="en-IN" dirty="0"/>
              <a:t>Lecture </a:t>
            </a:r>
            <a:r>
              <a:rPr lang="en-IN" dirty="0" smtClean="0"/>
              <a:t>4</a:t>
            </a:r>
            <a:br>
              <a:rPr lang="en-IN" dirty="0" smtClean="0"/>
            </a:br>
            <a:r>
              <a:rPr lang="en-IN" dirty="0"/>
              <a:t>Discounting Technique </a:t>
            </a:r>
            <a:r>
              <a:rPr lang="en-IN" dirty="0" smtClean="0"/>
              <a:t>–</a:t>
            </a:r>
            <a:br>
              <a:rPr lang="en-IN" dirty="0" smtClean="0"/>
            </a:br>
            <a:r>
              <a:rPr lang="en-IN" dirty="0" smtClean="0"/>
              <a:t>Present </a:t>
            </a:r>
            <a:r>
              <a:rPr lang="en-IN" dirty="0"/>
              <a:t>Value</a:t>
            </a:r>
            <a:endParaRPr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57251" y="2249487"/>
            <a:ext cx="7429499" cy="3541714"/>
          </a:xfrm>
        </p:spPr>
        <p:txBody>
          <a:bodyPr/>
          <a:lstStyle/>
          <a:p>
            <a:pPr marL="0" indent="0" algn="ctr">
              <a:buNone/>
            </a:pPr>
            <a:r>
              <a:rPr dirty="0">
                <a:solidFill>
                  <a:schemeClr val="bg1"/>
                </a:solidFill>
              </a:rPr>
              <a:t>Course: Financial Management (24CSB221T</a:t>
            </a:r>
            <a:r>
              <a:rPr dirty="0" smtClean="0">
                <a:solidFill>
                  <a:schemeClr val="bg1"/>
                </a:solidFill>
              </a:rPr>
              <a:t>)</a:t>
            </a:r>
            <a:endParaRPr lang="en-IN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IN" dirty="0" smtClean="0">
                <a:solidFill>
                  <a:schemeClr val="bg1"/>
                </a:solidFill>
              </a:rPr>
              <a:t>Unit IV: Time Value of Money</a:t>
            </a:r>
            <a:endParaRPr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dirty="0" smtClean="0">
                <a:solidFill>
                  <a:schemeClr val="bg1"/>
                </a:solidFill>
              </a:rPr>
              <a:t>B.Tech</a:t>
            </a:r>
            <a:r>
              <a:rPr lang="en-IN" dirty="0" smtClean="0">
                <a:solidFill>
                  <a:schemeClr val="bg1"/>
                </a:solidFill>
              </a:rPr>
              <a:t>.</a:t>
            </a:r>
            <a:r>
              <a:rPr dirty="0" smtClean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CSBS – Semester </a:t>
            </a:r>
            <a:r>
              <a:rPr dirty="0" smtClean="0">
                <a:solidFill>
                  <a:schemeClr val="bg1"/>
                </a:solidFill>
              </a:rPr>
              <a:t>IV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591150" y="4135557"/>
            <a:ext cx="3961701" cy="1320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</a:rPr>
              <a:t>Dr</a:t>
            </a:r>
            <a:r>
              <a:rPr lang="en-US" dirty="0">
                <a:solidFill>
                  <a:schemeClr val="bg1"/>
                </a:solidFill>
              </a:rPr>
              <a:t>. Darshit SHAH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CSE, </a:t>
            </a:r>
            <a:r>
              <a:rPr lang="en-US" dirty="0" err="1">
                <a:solidFill>
                  <a:schemeClr val="bg1"/>
                </a:solidFill>
              </a:rPr>
              <a:t>SoT</a:t>
            </a:r>
            <a:r>
              <a:rPr lang="en-US" dirty="0">
                <a:solidFill>
                  <a:schemeClr val="bg1"/>
                </a:solidFill>
              </a:rPr>
              <a:t>, PDEU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the concept of discounting</a:t>
            </a:r>
          </a:p>
          <a:p>
            <a:r>
              <a:t>Compute Present Value (PV) of a lump sum</a:t>
            </a:r>
          </a:p>
          <a:p>
            <a:r>
              <a:t>Compute PV of multiple cash flows</a:t>
            </a:r>
          </a:p>
          <a:p>
            <a:r>
              <a:t>Understand financial decisions using PV</a:t>
            </a:r>
          </a:p>
          <a:p>
            <a:r>
              <a:t>Apply Excel functions for PV calculations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Discounting?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Discounting is the reverse process of compounding.</a:t>
            </a:r>
          </a:p>
          <a:p>
            <a:r>
              <a:t>It converts future cash flows into their present value.</a:t>
            </a:r>
          </a:p>
          <a:p>
            <a:r>
              <a:t>Used to evaluate financial decisions today.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Present Value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Money received in the future is worth less than money today.</a:t>
            </a:r>
          </a:p>
          <a:p>
            <a:r>
              <a:rPr dirty="0"/>
              <a:t>Reasons:</a:t>
            </a:r>
          </a:p>
          <a:p>
            <a:pPr lvl="1"/>
            <a:r>
              <a:rPr dirty="0"/>
              <a:t>Opportunity cost of capital</a:t>
            </a:r>
          </a:p>
          <a:p>
            <a:pPr lvl="1"/>
            <a:r>
              <a:rPr dirty="0"/>
              <a:t>Inflation</a:t>
            </a:r>
          </a:p>
          <a:p>
            <a:pPr lvl="1"/>
            <a:r>
              <a:rPr dirty="0"/>
              <a:t>Risk and uncertainty</a:t>
            </a:r>
          </a:p>
          <a:p>
            <a:pPr lvl="1"/>
            <a:r>
              <a:rPr dirty="0"/>
              <a:t>Preference for current consumption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 Value of Lump Sum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Present Value formula:</a:t>
            </a:r>
          </a:p>
          <a:p>
            <a:pPr lvl="1"/>
            <a:r>
              <a:rPr dirty="0"/>
              <a:t>PV = FV / (1 + r)^n</a:t>
            </a:r>
          </a:p>
          <a:p>
            <a:r>
              <a:rPr dirty="0"/>
              <a:t>Where:</a:t>
            </a:r>
          </a:p>
          <a:p>
            <a:pPr lvl="1"/>
            <a:r>
              <a:rPr dirty="0"/>
              <a:t>FV = Future Value</a:t>
            </a:r>
          </a:p>
          <a:p>
            <a:pPr lvl="1"/>
            <a:r>
              <a:rPr dirty="0"/>
              <a:t>r = interest rate</a:t>
            </a:r>
          </a:p>
          <a:p>
            <a:pPr lvl="1"/>
            <a:r>
              <a:rPr dirty="0"/>
              <a:t>n = number of periods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Example – Present Value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amount = ₹13,310</a:t>
            </a:r>
          </a:p>
          <a:p>
            <a:r>
              <a:t>Interest rate = 10%</a:t>
            </a:r>
          </a:p>
          <a:p>
            <a:r>
              <a:t>Time = 3 years</a:t>
            </a:r>
          </a:p>
          <a:p>
            <a:r>
              <a:t>PV = 13310 / (1.10)^3</a:t>
            </a:r>
          </a:p>
          <a:p>
            <a:r>
              <a:t>PV = ₹10,000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Present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Used in investment evaluation</a:t>
            </a:r>
          </a:p>
          <a:p>
            <a:r>
              <a:rPr dirty="0"/>
              <a:t>Used in loan analysis</a:t>
            </a:r>
          </a:p>
          <a:p>
            <a:r>
              <a:rPr dirty="0"/>
              <a:t>Used in bond valuation</a:t>
            </a:r>
          </a:p>
          <a:p>
            <a:r>
              <a:rPr dirty="0"/>
              <a:t>Used in capital budgeting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Discounting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Helps compare cash flows occurring at different times</a:t>
            </a:r>
          </a:p>
          <a:p>
            <a:r>
              <a:t>Considers time value of money</a:t>
            </a:r>
          </a:p>
          <a:p>
            <a:r>
              <a:t>Provides rational investment decision basis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Discounting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Requires correct estimation of interest rate</a:t>
            </a:r>
          </a:p>
          <a:p>
            <a:r>
              <a:t>Future cash flows may be uncertain</a:t>
            </a:r>
          </a:p>
          <a:p>
            <a:r>
              <a:t>Economic conditions may change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 Value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PV tables simplify calculations.</a:t>
            </a:r>
          </a:p>
          <a:p>
            <a:r>
              <a:t>PV factor = 1 / (1+r)^n</a:t>
            </a:r>
          </a:p>
          <a:p>
            <a:r>
              <a:t>Example: r = 10%, n = 3 → PV factor = 0.751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Present Value of Multiple Cash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real life, projects generate several future cash flows.</a:t>
            </a:r>
          </a:p>
          <a:p>
            <a:r>
              <a:t>Each cash flow must be discounted separately.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– Multiple Cash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1: ₹5,000</a:t>
            </a:r>
          </a:p>
          <a:p>
            <a:r>
              <a:t>Year 2: ₹6,000</a:t>
            </a:r>
          </a:p>
          <a:p>
            <a:r>
              <a:t>Year 3: ₹7,000</a:t>
            </a:r>
          </a:p>
          <a:p>
            <a:r>
              <a:t>Interest rate = 10%</a:t>
            </a:r>
          </a:p>
          <a:p>
            <a:r>
              <a:t>Each amount discounted to present.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PV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PV of 5000 = 5000/(1.10)^1</a:t>
            </a:r>
          </a:p>
          <a:p>
            <a:r>
              <a:t>PV of 6000 = 6000/(1.10)^2</a:t>
            </a:r>
          </a:p>
          <a:p>
            <a:r>
              <a:t>PV of 7000 = 7000/(1.10)^3</a:t>
            </a:r>
          </a:p>
          <a:p>
            <a:r>
              <a:t>Total PV = sum of discounted values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Calculation – Present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Excel function:</a:t>
            </a:r>
          </a:p>
          <a:p>
            <a:pPr lvl="1"/>
            <a:r>
              <a:rPr dirty="0"/>
              <a:t>=PV(rate, </a:t>
            </a:r>
            <a:r>
              <a:rPr dirty="0" err="1"/>
              <a:t>nper</a:t>
            </a:r>
            <a:r>
              <a:rPr dirty="0"/>
              <a:t>, </a:t>
            </a:r>
            <a:r>
              <a:rPr dirty="0" err="1"/>
              <a:t>pmt</a:t>
            </a:r>
            <a:r>
              <a:rPr dirty="0"/>
              <a:t>, </a:t>
            </a:r>
            <a:r>
              <a:rPr dirty="0" err="1"/>
              <a:t>fv</a:t>
            </a:r>
            <a:r>
              <a:rPr dirty="0"/>
              <a:t>)</a:t>
            </a:r>
          </a:p>
          <a:p>
            <a:r>
              <a:rPr dirty="0"/>
              <a:t>Example:</a:t>
            </a:r>
          </a:p>
          <a:p>
            <a:pPr lvl="1"/>
            <a:r>
              <a:rPr dirty="0"/>
              <a:t>=PV(10%,3,0,13310)</a:t>
            </a:r>
          </a:p>
          <a:p>
            <a:r>
              <a:rPr dirty="0"/>
              <a:t>Returns present value of future cash flow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Formula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Excel formula:</a:t>
            </a:r>
          </a:p>
          <a:p>
            <a:pPr lvl="1"/>
            <a:r>
              <a:rPr dirty="0"/>
              <a:t>=FV/(1+rate)^n</a:t>
            </a:r>
          </a:p>
          <a:p>
            <a:r>
              <a:rPr dirty="0"/>
              <a:t>Example:</a:t>
            </a:r>
          </a:p>
          <a:p>
            <a:pPr lvl="1"/>
            <a:r>
              <a:rPr dirty="0"/>
              <a:t>=13310/(1+10%)^3</a:t>
            </a:r>
          </a:p>
          <a:p>
            <a:pPr lvl="1"/>
            <a:r>
              <a:rPr dirty="0"/>
              <a:t>Result = 10000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for Multiple Cash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Enter cash flows in Excel timeline</a:t>
            </a:r>
          </a:p>
          <a:p>
            <a:r>
              <a:t>Step 2: Apply PV formula for each year</a:t>
            </a:r>
          </a:p>
          <a:p>
            <a:r>
              <a:t>Step 3: Sum all present values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Programming Style Thinking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Algorithm:</a:t>
            </a:r>
          </a:p>
          <a:p>
            <a:r>
              <a:rPr dirty="0"/>
              <a:t>Input: FV, r, n</a:t>
            </a:r>
          </a:p>
          <a:p>
            <a:r>
              <a:rPr dirty="0"/>
              <a:t>PV = FV</a:t>
            </a:r>
          </a:p>
          <a:p>
            <a:r>
              <a:rPr dirty="0"/>
              <a:t>Repeat n times:</a:t>
            </a:r>
          </a:p>
          <a:p>
            <a:pPr lvl="1"/>
            <a:r>
              <a:rPr dirty="0"/>
              <a:t>PV = PV / (1 + r)</a:t>
            </a:r>
          </a:p>
          <a:p>
            <a:r>
              <a:rPr dirty="0"/>
              <a:t>Output PV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Financial Applications of Discounting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evaluation</a:t>
            </a:r>
          </a:p>
          <a:p>
            <a:r>
              <a:t>Capital budgeting</a:t>
            </a:r>
          </a:p>
          <a:p>
            <a:r>
              <a:t>Bond valuation</a:t>
            </a:r>
          </a:p>
          <a:p>
            <a:r>
              <a:t>Investment comparison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Classroom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amount ₹20,000</a:t>
            </a:r>
          </a:p>
          <a:p>
            <a:r>
              <a:t>Interest rate = 8%</a:t>
            </a:r>
          </a:p>
          <a:p>
            <a:r>
              <a:t>Time = 4 years</a:t>
            </a:r>
          </a:p>
          <a:p>
            <a:r>
              <a:t>Calculate Present Value using formula and Excel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Discounting converts future cash flows to present value</a:t>
            </a:r>
          </a:p>
          <a:p>
            <a:r>
              <a:t>PV is essential for financial decision making</a:t>
            </a:r>
          </a:p>
          <a:p>
            <a:r>
              <a:t>Excel tools simplify PV computations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7593801191DF4D984FE1A4D4B0D7E7" ma:contentTypeVersion="3" ma:contentTypeDescription="Create a new document." ma:contentTypeScope="" ma:versionID="e39092a7b4b27737e8a209021adc68b3">
  <xsd:schema xmlns:xsd="http://www.w3.org/2001/XMLSchema" xmlns:xs="http://www.w3.org/2001/XMLSchema" xmlns:p="http://schemas.microsoft.com/office/2006/metadata/properties" xmlns:ns2="a97a8ad6-67d7-4123-ae64-ac343da58d72" targetNamespace="http://schemas.microsoft.com/office/2006/metadata/properties" ma:root="true" ma:fieldsID="5b71e39e27f0c01b1326b4cb4b655a4e" ns2:_="">
    <xsd:import namespace="a97a8ad6-67d7-4123-ae64-ac343da58d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7a8ad6-67d7-4123-ae64-ac343da58d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21A1F5D-194B-4C6D-9335-EFE5F13E9535}"/>
</file>

<file path=customXml/itemProps2.xml><?xml version="1.0" encoding="utf-8"?>
<ds:datastoreItem xmlns:ds="http://schemas.openxmlformats.org/officeDocument/2006/customXml" ds:itemID="{381DFB2F-3648-4571-BF0B-B5B30714DDF3}"/>
</file>

<file path=customXml/itemProps3.xml><?xml version="1.0" encoding="utf-8"?>
<ds:datastoreItem xmlns:ds="http://schemas.openxmlformats.org/officeDocument/2006/customXml" ds:itemID="{0FDD409A-7A2D-43EE-B37A-CB9D6E2097E2}"/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21</TotalTime>
  <Words>546</Words>
  <Application>Microsoft Office PowerPoint</Application>
  <PresentationFormat>On-screen Show (4:3)</PresentationFormat>
  <Paragraphs>104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Bahnschrift</vt:lpstr>
      <vt:lpstr>Trebuchet MS</vt:lpstr>
      <vt:lpstr>Tw Cen MT</vt:lpstr>
      <vt:lpstr>Circuit</vt:lpstr>
      <vt:lpstr>Unit IV – Lecture 4 Discounting Technique – Present Value</vt:lpstr>
      <vt:lpstr>Lecture Objectives</vt:lpstr>
      <vt:lpstr>What is Discounting?</vt:lpstr>
      <vt:lpstr>Why Present Value Matters</vt:lpstr>
      <vt:lpstr>Present Value of Lump Sum</vt:lpstr>
      <vt:lpstr>Example – Present Value Calculation</vt:lpstr>
      <vt:lpstr>Importance of Present Value</vt:lpstr>
      <vt:lpstr>Advantages of Discounting</vt:lpstr>
      <vt:lpstr>Limitations of Discounting</vt:lpstr>
      <vt:lpstr>Present Value Tables</vt:lpstr>
      <vt:lpstr>Present Value of Multiple Cash Flows</vt:lpstr>
      <vt:lpstr>Example – Multiple Cash Flows</vt:lpstr>
      <vt:lpstr>PV Computation</vt:lpstr>
      <vt:lpstr>Excel Calculation – Present Value</vt:lpstr>
      <vt:lpstr>Excel Formula Approach</vt:lpstr>
      <vt:lpstr>Excel for Multiple Cash Flows</vt:lpstr>
      <vt:lpstr>Programming Style Thinking</vt:lpstr>
      <vt:lpstr>Financial Applications of Discounting</vt:lpstr>
      <vt:lpstr>Classroom Exercise</vt:lpstr>
      <vt:lpstr>Key Takeaways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IV – Time Value of Money | Lecture 4</dc:title>
  <dc:subject/>
  <dc:creator/>
  <cp:keywords/>
  <dc:description>generated using python-pptx</dc:description>
  <cp:lastModifiedBy>Darshit Shah</cp:lastModifiedBy>
  <cp:revision>4</cp:revision>
  <dcterms:created xsi:type="dcterms:W3CDTF">2013-01-27T09:14:16Z</dcterms:created>
  <dcterms:modified xsi:type="dcterms:W3CDTF">2026-04-05T17:16:38Z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0x010100157593801191DF4D984FE1A4D4B0D7E7</vt:lpwstr>
  </property>
</Properties>
</file>
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3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2pPr>
            <a:lvl3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3pPr>
            <a:lvl4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4pPr>
            <a:lvl5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0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7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7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63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8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5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4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3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8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68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1451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47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39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2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40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5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92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dirty="0"/>
              <a:t>Unit IV </a:t>
            </a:r>
            <a:r>
              <a:rPr dirty="0" smtClean="0"/>
              <a:t>–</a:t>
            </a:r>
            <a:r>
              <a:rPr lang="en-IN" dirty="0" smtClean="0"/>
              <a:t> </a:t>
            </a:r>
            <a:r>
              <a:rPr dirty="0" smtClean="0"/>
              <a:t>Lecture 5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Effective Rate of Interest</a:t>
            </a:r>
            <a:endParaRPr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57251" y="2249487"/>
            <a:ext cx="7429499" cy="3541714"/>
          </a:xfrm>
        </p:spPr>
        <p:txBody>
          <a:bodyPr/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Course: Financial Management (24CSB221T</a:t>
            </a:r>
            <a:r>
              <a:rPr dirty="0" smtClean="0">
                <a:solidFill>
                  <a:schemeClr val="bg1"/>
                </a:solidFill>
              </a:rPr>
              <a:t>)</a:t>
            </a:r>
            <a:endParaRPr lang="en-IN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dirty="0" smtClean="0">
                <a:solidFill>
                  <a:schemeClr val="bg1"/>
                </a:solidFill>
              </a:rPr>
              <a:t>Unit IV: Time Value of Money</a:t>
            </a:r>
            <a:endParaRPr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dirty="0" smtClean="0">
                <a:solidFill>
                  <a:schemeClr val="bg1"/>
                </a:solidFill>
              </a:rPr>
              <a:t>B.Tech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CSBS – Semester </a:t>
            </a:r>
            <a:r>
              <a:rPr dirty="0" smtClean="0">
                <a:solidFill>
                  <a:schemeClr val="bg1"/>
                </a:solidFill>
              </a:rPr>
              <a:t>IV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591150" y="4135557"/>
            <a:ext cx="3961701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Dr</a:t>
            </a:r>
            <a:r>
              <a:rPr lang="en-US" dirty="0">
                <a:solidFill>
                  <a:schemeClr val="bg1"/>
                </a:solidFill>
              </a:rPr>
              <a:t>. Darshit SHAH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CSE, </a:t>
            </a:r>
            <a:r>
              <a:rPr lang="en-US" dirty="0" err="1">
                <a:solidFill>
                  <a:schemeClr val="bg1"/>
                </a:solidFill>
              </a:rPr>
              <a:t>SoT</a:t>
            </a:r>
            <a:r>
              <a:rPr lang="en-US" dirty="0">
                <a:solidFill>
                  <a:schemeClr val="bg1"/>
                </a:solidFill>
              </a:rPr>
              <a:t>, PDEU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nominal vs effective interest rates</a:t>
            </a:r>
          </a:p>
          <a:p>
            <a:r>
              <a:t>Understand effect of compounding frequency</a:t>
            </a:r>
          </a:p>
          <a:p>
            <a:r>
              <a:t>Calculate Effective Annual Rate (EAR)</a:t>
            </a:r>
          </a:p>
          <a:p>
            <a:r>
              <a:t>Use Excel functions for interest rate calculations</a:t>
            </a:r>
          </a:p>
          <a:p>
            <a:r>
              <a:t>Apply TVM concepts to real financial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from Previous Lectures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1 – Foundations of Time Value of Money</a:t>
            </a:r>
          </a:p>
          <a:p>
            <a:r>
              <a:t>Lecture 2 – Compounding and Future Value</a:t>
            </a:r>
          </a:p>
          <a:p>
            <a:r>
              <a:t>Lecture 3 – Annuities</a:t>
            </a:r>
          </a:p>
          <a:p>
            <a:r>
              <a:t>Lecture 4 – Discounting and Present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Nominal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Nominal rate is the stated annual interest rate.</a:t>
            </a:r>
          </a:p>
          <a:p>
            <a:r>
              <a:t>It does not consider compounding within the year.</a:t>
            </a:r>
          </a:p>
          <a:p>
            <a:r>
              <a:t>Example: Bank advertises 12% interest per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Compounding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 may compound multiple times per year:</a:t>
            </a:r>
          </a:p>
          <a:p>
            <a:r>
              <a:t>Annually (1 time)</a:t>
            </a:r>
          </a:p>
          <a:p>
            <a:r>
              <a:t>Semi-annually (2 times)</a:t>
            </a:r>
          </a:p>
          <a:p>
            <a:r>
              <a:t>Quarterly (4 times)</a:t>
            </a:r>
          </a:p>
          <a:p>
            <a:r>
              <a:t>Monthly (12 times)</a:t>
            </a:r>
          </a:p>
          <a:p>
            <a:r>
              <a:t>Daily (365 times)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Effective Annual Rate (EAR)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Annual Rate reflects the true annual return considering compounding.</a:t>
            </a:r>
          </a:p>
          <a:p>
            <a:r>
              <a:t>EAR shows the actual yield earned.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Effective Rate Formula:</a:t>
            </a:r>
          </a:p>
          <a:p>
            <a:pPr lvl="1"/>
            <a:r>
              <a:rPr dirty="0"/>
              <a:t>EAR = (1 + r/m)^m − 1</a:t>
            </a:r>
          </a:p>
          <a:p>
            <a:r>
              <a:rPr dirty="0"/>
              <a:t>Where:</a:t>
            </a:r>
          </a:p>
          <a:p>
            <a:pPr lvl="1"/>
            <a:r>
              <a:rPr dirty="0"/>
              <a:t>r = nominal rate</a:t>
            </a:r>
          </a:p>
          <a:p>
            <a:pPr lvl="1"/>
            <a:r>
              <a:rPr dirty="0"/>
              <a:t>m = compounding frequency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Effective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Nominal rate = 12%</a:t>
            </a:r>
          </a:p>
          <a:p>
            <a:r>
              <a:t>Compounding = quarterly</a:t>
            </a:r>
          </a:p>
          <a:p>
            <a:r>
              <a:t>EAR = (1 + 0.12/4)^4 − 1</a:t>
            </a:r>
          </a:p>
          <a:p>
            <a:r>
              <a:t>EAR ≈ 12.55%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Effective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comparison between different investment options</a:t>
            </a:r>
          </a:p>
          <a:p>
            <a:r>
              <a:t>Helps evaluate loans and deposits</a:t>
            </a:r>
          </a:p>
          <a:p>
            <a:r>
              <a:t>Provides accurate measure of return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Still assumes constant interest rate</a:t>
            </a:r>
          </a:p>
          <a:p>
            <a:r>
              <a:t>Real returns may be affected by inflation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Calculation – Effective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 function:</a:t>
            </a:r>
          </a:p>
          <a:p>
            <a:pPr lvl="1"/>
            <a:r>
              <a:rPr dirty="0"/>
              <a:t>=EFFECT(</a:t>
            </a:r>
            <a:r>
              <a:rPr dirty="0" err="1"/>
              <a:t>nominal_rate</a:t>
            </a:r>
            <a:r>
              <a:rPr dirty="0"/>
              <a:t>, </a:t>
            </a:r>
            <a:r>
              <a:rPr dirty="0" err="1"/>
              <a:t>npery</a:t>
            </a:r>
            <a:r>
              <a:rPr dirty="0"/>
              <a:t>)</a:t>
            </a:r>
          </a:p>
          <a:p>
            <a:r>
              <a:rPr dirty="0"/>
              <a:t>Example:</a:t>
            </a:r>
          </a:p>
          <a:p>
            <a:pPr lvl="1"/>
            <a:r>
              <a:rPr dirty="0"/>
              <a:t>=EFFECT(12%,4)</a:t>
            </a:r>
          </a:p>
          <a:p>
            <a:r>
              <a:rPr dirty="0"/>
              <a:t>Returns effective annual rate for quarterly compounding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Reverse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 function:</a:t>
            </a:r>
          </a:p>
          <a:p>
            <a:pPr lvl="1"/>
            <a:r>
              <a:rPr dirty="0"/>
              <a:t>=NOMINAL(</a:t>
            </a:r>
            <a:r>
              <a:rPr dirty="0" err="1"/>
              <a:t>effect_rate</a:t>
            </a:r>
            <a:r>
              <a:rPr dirty="0"/>
              <a:t>, </a:t>
            </a:r>
            <a:r>
              <a:rPr dirty="0" err="1"/>
              <a:t>npery</a:t>
            </a:r>
            <a:r>
              <a:rPr dirty="0"/>
              <a:t>)</a:t>
            </a:r>
          </a:p>
          <a:p>
            <a:r>
              <a:rPr dirty="0"/>
              <a:t>Example:</a:t>
            </a:r>
          </a:p>
          <a:p>
            <a:pPr lvl="1"/>
            <a:r>
              <a:rPr dirty="0"/>
              <a:t>=NOMINAL(12.55%,4)</a:t>
            </a:r>
          </a:p>
          <a:p>
            <a:r>
              <a:rPr dirty="0"/>
              <a:t>Returns nominal rate corresponding to effective 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– Loan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Loan A: 12% compounded annually</a:t>
            </a:r>
          </a:p>
          <a:p>
            <a:r>
              <a:t>Loan B: 12% compounded monthly</a:t>
            </a:r>
          </a:p>
          <a:p>
            <a:r>
              <a:t>Which loan is cheaper?</a:t>
            </a:r>
          </a:p>
          <a:p>
            <a:r>
              <a:t>Effective rate calculation helps decide.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– Investment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A: 10% annual return</a:t>
            </a:r>
          </a:p>
          <a:p>
            <a:r>
              <a:t>Investment B: 9.8% compounded monthly</a:t>
            </a:r>
          </a:p>
          <a:p>
            <a:r>
              <a:t>Effective rate determines better option.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– Credit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card interest often compounds daily.</a:t>
            </a:r>
          </a:p>
          <a:p>
            <a:r>
              <a:t>Nominal rate may appear small but effective rate becomes high.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– Retirement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Long-term investments benefit from compounding.</a:t>
            </a:r>
          </a:p>
          <a:p>
            <a:r>
              <a:t>Effective rate helps estimate long-term growth.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Excel Demonstration – Investment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Example:</a:t>
            </a:r>
          </a:p>
          <a:p>
            <a:pPr lvl="1"/>
            <a:r>
              <a:rPr dirty="0"/>
              <a:t>Initial investment = ₹50,000</a:t>
            </a:r>
          </a:p>
          <a:p>
            <a:pPr lvl="1"/>
            <a:r>
              <a:rPr dirty="0"/>
              <a:t>Interest rate = 8%</a:t>
            </a:r>
          </a:p>
          <a:p>
            <a:pPr lvl="1"/>
            <a:r>
              <a:rPr dirty="0"/>
              <a:t>Years = 10</a:t>
            </a:r>
          </a:p>
          <a:p>
            <a:r>
              <a:rPr dirty="0"/>
              <a:t>Excel formula:</a:t>
            </a:r>
          </a:p>
          <a:p>
            <a:pPr lvl="1"/>
            <a:r>
              <a:rPr dirty="0"/>
              <a:t>=FV(8%,10,0,-50000)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Understanding 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financial decision making</a:t>
            </a:r>
          </a:p>
          <a:p>
            <a:r>
              <a:t>Accurate comparison of financial products</a:t>
            </a:r>
          </a:p>
          <a:p>
            <a:r>
              <a:t>Improves investment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Interest Rate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 rates may fluctuate</a:t>
            </a:r>
          </a:p>
          <a:p>
            <a:r>
              <a:t>Inflation reduces real returns</a:t>
            </a:r>
          </a:p>
          <a:p>
            <a:r>
              <a:t>Financial markets involve uncertainty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of TVM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Value – growth of investments</a:t>
            </a:r>
          </a:p>
          <a:p>
            <a:r>
              <a:t>Present Value – valuation of future cash flows</a:t>
            </a:r>
          </a:p>
          <a:p>
            <a:r>
              <a:t>Annuities – regular financial payments</a:t>
            </a:r>
          </a:p>
          <a:p>
            <a:r>
              <a:t>Effective Rate – accurate interest comparison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Exercise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bank offers 11% compounded quarterly.</a:t>
            </a:r>
          </a:p>
          <a:p>
            <a:r>
              <a:rPr dirty="0"/>
              <a:t>Calculate the effective annual rate using formula and Excel.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IV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Value of Money is fundamental to finance</a:t>
            </a:r>
          </a:p>
          <a:p>
            <a:r>
              <a:t>Compounding and discounting drive financial mathematics</a:t>
            </a:r>
          </a:p>
          <a:p>
            <a:r>
              <a:t>Annuities represent recurring payments</a:t>
            </a:r>
          </a:p>
          <a:p>
            <a:r>
              <a:t>Effective rate helps evaluate financial alternatives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D40004-7783-4A94-BD4F-BFB4ABE060DD}"/>
</file>

<file path=customXml/itemProps2.xml><?xml version="1.0" encoding="utf-8"?>
<ds:datastoreItem xmlns:ds="http://schemas.openxmlformats.org/officeDocument/2006/customXml" ds:itemID="{DE7DCB6E-D787-4C92-B4C3-50856293814F}"/>
</file>

<file path=customXml/itemProps3.xml><?xml version="1.0" encoding="utf-8"?>
<ds:datastoreItem xmlns:ds="http://schemas.openxmlformats.org/officeDocument/2006/customXml" ds:itemID="{F062A8C2-EE68-4FB3-8F8C-59EF385CA039}"/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</TotalTime>
  <Words>556</Words>
  <Application>Microsoft Office PowerPoint</Application>
  <PresentationFormat>On-screen Show (4:3)</PresentationFormat>
  <Paragraphs>104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Bahnschrift</vt:lpstr>
      <vt:lpstr>Trebuchet MS</vt:lpstr>
      <vt:lpstr>Tw Cen MT</vt:lpstr>
      <vt:lpstr>Circuit</vt:lpstr>
      <vt:lpstr>Unit IV – Lecture 5 Effective Rate of Interest</vt:lpstr>
      <vt:lpstr>Lecture Objectives</vt:lpstr>
      <vt:lpstr>Recap from Previous Lectures</vt:lpstr>
      <vt:lpstr>Nominal Interest Rate</vt:lpstr>
      <vt:lpstr>Compounding Frequency</vt:lpstr>
      <vt:lpstr>Effective Annual Rate (EAR)</vt:lpstr>
      <vt:lpstr>EAR Formula</vt:lpstr>
      <vt:lpstr>Example – Effective Rate</vt:lpstr>
      <vt:lpstr>Importance of Effective Rate</vt:lpstr>
      <vt:lpstr>Limitations</vt:lpstr>
      <vt:lpstr>Excel Calculation – Effective Rate</vt:lpstr>
      <vt:lpstr>Excel Reverse Calculation</vt:lpstr>
      <vt:lpstr>Application – Loan Comparison</vt:lpstr>
      <vt:lpstr>Application – Investment Decision</vt:lpstr>
      <vt:lpstr>Application – Credit Cards</vt:lpstr>
      <vt:lpstr>Application – Retirement Planning</vt:lpstr>
      <vt:lpstr>Excel Demonstration – Investment Growth</vt:lpstr>
      <vt:lpstr>Advantages of Understanding EAR</vt:lpstr>
      <vt:lpstr>Limitations of Interest Rate Models</vt:lpstr>
      <vt:lpstr>Integration of TVM Concepts</vt:lpstr>
      <vt:lpstr>Exercise</vt:lpstr>
      <vt:lpstr>Unit IV Summary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– Time Value of Money | Lecture 5</dc:title>
  <dc:subject/>
  <dc:creator/>
  <cp:keywords/>
  <dc:description>generated using python-pptx</dc:description>
  <cp:lastModifiedBy>Darshit Shah</cp:lastModifiedBy>
  <cp:revision>3</cp:revision>
  <dcterms:created xsi:type="dcterms:W3CDTF">2013-01-27T09:14:16Z</dcterms:created>
  <dcterms:modified xsi:type="dcterms:W3CDTF">2026-04-05T17:22:15Z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